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136" d="100"/>
          <a:sy n="136" d="100"/>
        </p:scale>
        <p:origin x="496" y="-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44444"/>
                </a:solidFill>
                <a:latin typeface="Malgun Gothic"/>
              </a:defRPr>
            </a:pPr>
            <a:r>
              <a:rPr lang="ko-KR" altLang="en-US" sz="1100" b="0" i="0" u="none" strike="noStrike">
                <a:solidFill>
                  <a:srgbClr val="444444"/>
                </a:solidFill>
                <a:latin typeface="Malgun Gothic"/>
              </a:rPr>
              <a:t>조건별 평균 </a:t>
            </a:r>
            <a:r>
              <a:rPr lang="en" sz="1100" b="0" i="0" u="none" strike="noStrike">
                <a:solidFill>
                  <a:srgbClr val="444444"/>
                </a:solidFill>
                <a:latin typeface="Malgun Gothic"/>
              </a:rPr>
              <a:t>IoU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IoU</c:v>
                </c:pt>
              </c:strCache>
            </c:strRef>
          </c:tx>
          <c:spPr>
            <a:solidFill>
              <a:srgbClr val="BFD9F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4A9-F746-98AC-4D22E3D072FD}"/>
              </c:ext>
            </c:extLst>
          </c:dPt>
          <c:dPt>
            <c:idx val="1"/>
            <c:invertIfNegative val="0"/>
            <c:bubble3D val="0"/>
            <c:spPr>
              <a:solidFill>
                <a:srgbClr val="0066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A9-F746-98AC-4D22E3D072FD}"/>
              </c:ext>
            </c:extLst>
          </c:dPt>
          <c:dPt>
            <c:idx val="2"/>
            <c:invertIfNegative val="0"/>
            <c:bubble3D val="0"/>
            <c:spPr>
              <a:solidFill>
                <a:srgbClr val="3D8F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4A9-F746-98AC-4D22E3D072FD}"/>
              </c:ext>
            </c:extLst>
          </c:dPt>
          <c:dPt>
            <c:idx val="3"/>
            <c:invertIfNegative val="0"/>
            <c:bubble3D val="0"/>
            <c:spPr>
              <a:solidFill>
                <a:srgbClr val="004C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4A9-F746-98AC-4D22E3D072FD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  3D 뷰 1장</c:v>
                </c:pt>
                <c:pt idx="1">
                  <c:v>B  Imagination 뷰</c:v>
                </c:pt>
                <c:pt idx="2">
                  <c:v>C  실제 정사투영 뷰</c:v>
                </c:pt>
                <c:pt idx="3">
                  <c:v>D  SVG 벡터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0.40500000000000003</c:v>
                </c:pt>
                <c:pt idx="1">
                  <c:v>0.45500000000000002</c:v>
                </c:pt>
                <c:pt idx="2">
                  <c:v>0.51500000000000001</c:v>
                </c:pt>
                <c:pt idx="3">
                  <c:v>0.752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4A9-F746-98AC-4D22E3D072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55555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9525" cap="flat">
              <a:solidFill>
                <a:srgbClr val="EFEF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9910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이미지만으로 3D CAD를 생성할 때, 없는 정사투영 도면을 AI가 생성해 넣으면 도움이 되는지를 확인한 실험입니다.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조건은 첨부 이미지만 다르고 텍스트와 모델 설정은 동일합니다. B가 이번에 제안하는 조건입니다.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공정성 규칙입니다. 생성기가 정답이나 원본 도면을 보면 실험이 성립하지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벡터가 압도적이고, Imagination 뷰는 기본 조건과 실제 도면 사이에 위치합니다.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B의 +0.050은 방향은 맞지만 유의하지 않습니다. 대신 하위 구간이 개선된 점이 관찰됩니다.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평균은 아직 유의하지 않지만, 잘 되는 경우에는 실제 도면보다도 좋은 결과가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6384"/>
            <a:ext cx="10689336" cy="24688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Users/jang-young-a/Downloads/agent_cad_260820-master/paper/assets/logo_ka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70432"/>
            <a:ext cx="1298448" cy="603504"/>
          </a:xfrm>
          <a:prstGeom prst="rect">
            <a:avLst/>
          </a:prstGeom>
        </p:spPr>
      </p:pic>
      <p:pic>
        <p:nvPicPr>
          <p:cNvPr id="4" name="Image 1" descr="/Users/jang-young-a/Downloads/agent_cad_260820-master/paper/assets/logo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1115568"/>
            <a:ext cx="713232" cy="7132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32520" y="12070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인공지능응용연구실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732520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Applied AI Section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2514600"/>
            <a:ext cx="9592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Imagination 기반 정사투영 뷰 활용 연구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548640" y="3429000"/>
            <a:ext cx="9592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CAD 모델링 보조를 위한 정사투영 뷰 자동 생성 실험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4430268" y="4069080"/>
            <a:ext cx="1828800" cy="0"/>
          </a:xfrm>
          <a:prstGeom prst="line">
            <a:avLst/>
          </a:prstGeom>
          <a:noFill/>
          <a:ln w="158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548640" y="4480560"/>
            <a:ext cx="9592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인공지능응용연구실</a:t>
            </a:r>
            <a:r>
              <a:rPr lang="en-US" sz="14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:: 한국원자력연구원 (KAERI) :: 과학기술연합대학원대학교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8640" y="4773168"/>
            <a:ext cx="9592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장영아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" y="5212080"/>
            <a:ext cx="9592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jya03@kaeri.re.kr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9820656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115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947672"/>
            <a:ext cx="10049256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2404872"/>
            <a:ext cx="512064" cy="512064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2404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34440" y="2286000"/>
            <a:ext cx="9134856" cy="749808"/>
          </a:xfrm>
          <a:prstGeom prst="roundRect">
            <a:avLst>
              <a:gd name="adj" fmla="val 6098"/>
            </a:avLst>
          </a:prstGeom>
          <a:solidFill>
            <a:srgbClr val="F5F5F5"/>
          </a:solidFill>
          <a:ln w="12700">
            <a:solidFill>
              <a:srgbClr val="ECEC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508760" y="23957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설계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697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질문과 네 가지 입력 조건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80576" y="2532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512064" cy="512064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34440" y="3127248"/>
            <a:ext cx="9134856" cy="749808"/>
          </a:xfrm>
          <a:prstGeom prst="roundRect">
            <a:avLst>
              <a:gd name="adj" fmla="val 6098"/>
            </a:avLst>
          </a:prstGeom>
          <a:solidFill>
            <a:srgbClr val="F5F5F5"/>
          </a:solidFill>
          <a:ln w="12700">
            <a:solidFill>
              <a:srgbClr val="ECEC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508760" y="32369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방법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5387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 정렬 Voxel IoU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80576" y="3374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p.05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87368"/>
            <a:ext cx="512064" cy="512064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4087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34440" y="3968496"/>
            <a:ext cx="9134856" cy="749808"/>
          </a:xfrm>
          <a:prstGeom prst="roundRect">
            <a:avLst>
              <a:gd name="adj" fmla="val 6098"/>
            </a:avLst>
          </a:prstGeom>
          <a:solidFill>
            <a:srgbClr val="F5F5F5"/>
          </a:solidFill>
          <a:ln w="12700">
            <a:solidFill>
              <a:srgbClr val="ECEC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508760" y="40782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결과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43799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분포와 기본 조건 대비 비교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80576" y="4215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p.06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928616"/>
            <a:ext cx="512064" cy="512064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4928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234440" y="4809744"/>
            <a:ext cx="9134856" cy="749808"/>
          </a:xfrm>
          <a:prstGeom prst="roundRect">
            <a:avLst>
              <a:gd name="adj" fmla="val 6098"/>
            </a:avLst>
          </a:prstGeom>
          <a:solidFill>
            <a:srgbClr val="F5F5F5"/>
          </a:solidFill>
          <a:ln w="12700">
            <a:solidFill>
              <a:srgbClr val="ECEC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508760" y="49194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해석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08760" y="52212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Imagination 뷰의 기여와 한계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80576" y="5056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p.09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20656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84124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 험 설 계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1115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실험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947672"/>
            <a:ext cx="10049256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766560" y="822960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 Intersection over Union</a:t>
            </a:r>
            <a:endParaRPr lang="en-US" sz="75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  Ground Truth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2194560"/>
            <a:ext cx="10049256" cy="566928"/>
          </a:xfrm>
          <a:prstGeom prst="roundRect">
            <a:avLst>
              <a:gd name="adj" fmla="val 8065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9500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 : 정사투영 도면이 없을 때, MLLM이 생성한 정사투영 뷰가 3D CAD 생성에 도움이 되는가?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971800"/>
            <a:ext cx="48920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76072" y="31546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X P E R I M E N T   S E T U 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76072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부품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94560" y="35204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 부품 30개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" y="3813048"/>
            <a:ext cx="438912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76072" y="39227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CAD 생성 모델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94560" y="392277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gemini-3.1-pro-preview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" y="4215384"/>
            <a:ext cx="438912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76072" y="43251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방식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94560" y="43251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CAD </a:t>
            </a:r>
            <a:r>
              <a:rPr lang="en-US" sz="10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" y="4617720"/>
            <a:ext cx="438912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76072" y="4727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94560" y="47274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· STL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6072" y="5020056"/>
            <a:ext cx="438912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76072" y="5129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지표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94560" y="512978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 정렬 Voxel IoU (48³)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6072" y="5422392"/>
            <a:ext cx="438912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76072" y="5532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설계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94560" y="55321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부품별 대응표본 (n=30)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0" y="2971800"/>
            <a:ext cx="4882896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742432" y="31546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N P U T   C O N D I T I O N 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760720" y="352044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80760" y="3520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뷰 1장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0" y="4123944"/>
            <a:ext cx="4517136" cy="603504"/>
          </a:xfrm>
          <a:prstGeom prst="roundRect">
            <a:avLst>
              <a:gd name="adj" fmla="val 6061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760720" y="41788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80760" y="41788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Imagination 정사투영 뷰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760720" y="483717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80760" y="48371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정사투영 뷰 (GT)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760720" y="549554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80760" y="54955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치수 포함 SVG 벡터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820656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84124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 험 설 계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1115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조건별 입력 예시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947672"/>
            <a:ext cx="10049256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Users/jang-young-a/Downloads/agent_cad_260820-master/eval/ablation/paper_fig1_in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212848"/>
            <a:ext cx="598932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2212848"/>
            <a:ext cx="3785616" cy="4023360"/>
          </a:xfrm>
          <a:prstGeom prst="roundRect">
            <a:avLst>
              <a:gd name="adj" fmla="val 1449"/>
            </a:avLst>
          </a:prstGeom>
          <a:solidFill>
            <a:srgbClr val="F5F5F5"/>
          </a:solidFill>
          <a:ln w="12700">
            <a:solidFill>
              <a:srgbClr val="ECEC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812280" y="23957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M A G I N A T I O N   생 성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81228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MLLM이 보는 것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12280" y="30175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뷰 1장 (조건 A와 동일한 이미지)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설명 텍스트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1228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MLLM이 보지 않는 것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12280" y="42519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3D 형상 (GT)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CAD 도면 · 치수 정보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12280" y="5166360"/>
            <a:ext cx="3328416" cy="868680"/>
          </a:xfrm>
          <a:prstGeom prst="roundRect">
            <a:avLst>
              <a:gd name="adj" fmla="val 4211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995160" y="516636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045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CAD 생성 단계에서 이미 주어지는 정보만 사용 — 조건 A와 정보 접근이 동일하다.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820656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84124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 가 방 법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1115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 정렬 Voxel IoU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947672"/>
            <a:ext cx="10049256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2286000"/>
            <a:ext cx="1004925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94360" y="2587752"/>
            <a:ext cx="457200" cy="457200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CAD 코드 생성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3320" y="248716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MLLM이 입력 이미지와 부품 설명으로부터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파라메트릭 CAD 코드를 생성한다.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3456432"/>
            <a:ext cx="1004925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94360" y="3758184"/>
            <a:ext cx="457200" cy="457200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9436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6576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기하 커널 실행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36576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OCCT에서 코드를 실행해 STEP·STL 형상을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얻는다. 실패 시 오류를 되돌려 1회 수정한다.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4626864"/>
            <a:ext cx="1004925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94360" y="4928616"/>
            <a:ext cx="457200" cy="457200"/>
          </a:xfrm>
          <a:prstGeom prst="ellipse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436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8280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 정렬 IoU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03320" y="482803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바운딩박스 기준 정규화 후 48³ 복셀화,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24개 축정렬 회전 중 최대 IoU를 채택한다.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5852160"/>
            <a:ext cx="10049256" cy="566928"/>
          </a:xfrm>
          <a:prstGeom prst="roundRect">
            <a:avLst>
              <a:gd name="adj" fmla="val 8065"/>
            </a:avLst>
          </a:prstGeom>
          <a:solidFill>
            <a:srgbClr val="F5F5F5"/>
          </a:solidFill>
          <a:ln w="12700">
            <a:solidFill>
              <a:srgbClr val="ECEC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4360" y="5852160"/>
            <a:ext cx="9500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IoU는 0~1의 값으로 1에 가까울수록 정답 형상과 일치한다. 부품 30개 × 조건 4개를 대응표본으로 비교하였다.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20656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84124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3  /  실 험 결 과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1115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분포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947672"/>
            <a:ext cx="10049256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766560" y="822960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= 30 (부품 수)</a:t>
            </a:r>
            <a:endParaRPr lang="en-US" sz="750" dirty="0"/>
          </a:p>
        </p:txBody>
      </p:sp>
      <p:pic>
        <p:nvPicPr>
          <p:cNvPr id="6" name="Image 0" descr="/Users/jang-young-a/Downloads/agent_cad_260820-master/eval/ablation/final30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194560"/>
            <a:ext cx="580644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22402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건 별  I o U  통 계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514600"/>
          <a:ext cx="3922776" cy="1920240"/>
        </p:xfrm>
        <a:graphic>
          <a:graphicData uri="http://schemas.openxmlformats.org/drawingml/2006/table">
            <a:tbl>
              <a:tblPr/>
              <a:tblGrid>
                <a:gridCol w="1700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중앙값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 3D 뷰 1장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0.401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0.405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0.789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 Imagination 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0.414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0.455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66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 실제 정사투영 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0.523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0.515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0.808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 치수 포함 SVG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0.855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46520" y="4892040"/>
            <a:ext cx="3922776" cy="1280160"/>
          </a:xfrm>
          <a:prstGeom prst="roundRect">
            <a:avLst>
              <a:gd name="adj" fmla="val 3571"/>
            </a:avLst>
          </a:prstGeom>
          <a:solidFill>
            <a:srgbClr val="F5F5F5"/>
          </a:solidFill>
          <a:ln w="12700">
            <a:solidFill>
              <a:srgbClr val="ECEC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6675120" y="489204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상자 = 사분위 범위, 가운데 선 = 중앙값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수염 = 최소 ~ 최대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B의 최댓값 0.921은 이미지 기반 조건 중 최고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820656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84124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3  /  실 험 결 과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1115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조건(A) 대비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947672"/>
            <a:ext cx="10049256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766560" y="822960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 Wilcoxon 부호 순위 검정</a:t>
            </a:r>
            <a:endParaRPr lang="en-US" sz="750" dirty="0"/>
          </a:p>
          <a:p>
            <a:pPr marL="0" indent="0" algn="r">
              <a:lnSpc>
                <a:spcPts val="11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r_bc  순위 이연 상관계수</a:t>
            </a:r>
            <a:endParaRPr lang="en-US" sz="7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2240280"/>
          <a:ext cx="50292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22402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 응 표 본  비 교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2542032"/>
          <a:ext cx="4700016" cy="1645920"/>
        </p:xfrm>
        <a:graphic>
          <a:graphicData uri="http://schemas.openxmlformats.org/drawingml/2006/table">
            <a:tbl>
              <a:tblPr/>
              <a:tblGrid>
                <a:gridCol w="969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r_bc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승/패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– A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66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0.151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+0.31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 / 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– A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+0.110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+0.69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 / 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– A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+0.347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 0.001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+0.99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 / 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0" y="4343400"/>
            <a:ext cx="470001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5897880" y="4526280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Imagination 뷰는 실제 정사투영 뷰가 주는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향상폭의 약 45% 수준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897880" y="5166360"/>
            <a:ext cx="4242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30개 중 21개 부품에서 기본 조건을 상회하였으나, 부품별 편차가 커 평균 차이는 통계적 유의성에 도달하지 못하였다.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0040" y="6035040"/>
            <a:ext cx="10049256" cy="502920"/>
          </a:xfrm>
          <a:prstGeom prst="roundRect">
            <a:avLst>
              <a:gd name="adj" fmla="val 9091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594360" y="6035040"/>
            <a:ext cx="9500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1사분위수 0.255 → 0.337 상승 : 단일 뷰만으로 형상 추론이 어려운 사례가 줄었다.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820656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84124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3  /  실 험 결 과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1115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Imagination 뷰의 상한 가능성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947672"/>
            <a:ext cx="10049256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2240280"/>
            <a:ext cx="3166872" cy="1600200"/>
          </a:xfrm>
          <a:prstGeom prst="roundRect">
            <a:avLst>
              <a:gd name="adj" fmla="val 3429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76072" y="2395728"/>
            <a:ext cx="265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B 최댓값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6072" y="2670048"/>
            <a:ext cx="2654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66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0.921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76072" y="3383280"/>
            <a:ext cx="265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기반 조건(A·B·C) 전체 중 최고값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61232" y="2240280"/>
            <a:ext cx="3166872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017264" y="2395728"/>
            <a:ext cx="265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C 최댓값 (GT)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17264" y="2670048"/>
            <a:ext cx="2654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0.808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017264" y="3383280"/>
            <a:ext cx="265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B가 0.113 상회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202424" y="2240280"/>
            <a:ext cx="3166872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458456" y="2395728"/>
            <a:ext cx="265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A 최댓값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58456" y="2670048"/>
            <a:ext cx="2654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0.789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458456" y="3383280"/>
            <a:ext cx="2654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조건</a:t>
            </a:r>
            <a:endParaRPr lang="en-US" sz="950" dirty="0"/>
          </a:p>
        </p:txBody>
      </p:sp>
      <p:pic>
        <p:nvPicPr>
          <p:cNvPr id="17" name="Image 0" descr="/Users/jang-young-a/Downloads/agent_cad_260820-master/eval/ablation/paper_fig3_results.png"/>
          <p:cNvPicPr>
            <a:picLocks noChangeAspect="1"/>
          </p:cNvPicPr>
          <p:nvPr/>
        </p:nvPicPr>
        <p:blipFill>
          <a:blip r:embed="rId3"/>
          <a:srcRect b="67290"/>
          <a:stretch>
            <a:fillRect/>
          </a:stretch>
        </p:blipFill>
        <p:spPr>
          <a:xfrm>
            <a:off x="2256365" y="4155693"/>
            <a:ext cx="6175908" cy="132599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820656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pic>
        <p:nvPicPr>
          <p:cNvPr id="20" name="Image 0" descr="/Users/jang-young-a/Downloads/agent_cad_260820-master/eval/ablation/paper_fig3_results.png">
            <a:extLst>
              <a:ext uri="{FF2B5EF4-FFF2-40B4-BE49-F238E27FC236}">
                <a16:creationId xmlns:a16="http://schemas.microsoft.com/office/drawing/2014/main" id="{12D400C4-EA94-5BF8-535A-1EC3CDB10F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359"/>
          <a:stretch>
            <a:fillRect/>
          </a:stretch>
        </p:blipFill>
        <p:spPr>
          <a:xfrm>
            <a:off x="2256365" y="5520338"/>
            <a:ext cx="6175906" cy="14853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84124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 과 해 석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1115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Imagination 정사투영 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947672"/>
            <a:ext cx="10049256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766560" y="822960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5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  Ground Truth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20040" y="2240280"/>
            <a:ext cx="488746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76072" y="2423160"/>
            <a:ext cx="43754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정사투영 뷰는 유효한 보조 입력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" y="2788920"/>
            <a:ext cx="4375404" cy="0"/>
          </a:xfrm>
          <a:prstGeom prst="line">
            <a:avLst/>
          </a:prstGeom>
          <a:noFill/>
          <a:ln w="9525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76072" y="2898648"/>
            <a:ext cx="43754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정사투영 뷰 추가 시 IoU +0.110 향상 (p = 0.001).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시점 정보가 CAD 생성에 기여함을 확인.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1828" y="2240280"/>
            <a:ext cx="4887468" cy="1508760"/>
          </a:xfrm>
          <a:prstGeom prst="roundRect">
            <a:avLst>
              <a:gd name="adj" fmla="val 3636"/>
            </a:avLst>
          </a:prstGeom>
          <a:solidFill>
            <a:srgbClr val="E8F1FB"/>
          </a:solidFill>
          <a:ln w="12700">
            <a:solidFill>
              <a:srgbClr val="D3E4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737860" y="2423160"/>
            <a:ext cx="43754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45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도면이 없어도 일부 회수 가능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37860" y="2788920"/>
            <a:ext cx="4375404" cy="0"/>
          </a:xfrm>
          <a:prstGeom prst="line">
            <a:avLst/>
          </a:prstGeom>
          <a:noFill/>
          <a:ln w="9525">
            <a:solidFill>
              <a:srgbClr val="C3D9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737860" y="2898648"/>
            <a:ext cx="43754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245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MLLM 생성 뷰는 +0.050 — 실제 도면 향상폭의 약 45%.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931920"/>
            <a:ext cx="488746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76072" y="4114800"/>
            <a:ext cx="43754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 왜곡이 주요 손실 요인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6072" y="4480560"/>
            <a:ext cx="4375404" cy="0"/>
          </a:xfrm>
          <a:prstGeom prst="line">
            <a:avLst/>
          </a:prstGeom>
          <a:noFill/>
          <a:ln w="9525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76072" y="4590288"/>
            <a:ext cx="43754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원본에 없는 구멍·단차가 추가되는 사례 발생.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형상 유형에 따라 생성 품질 편차가 큼.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1828" y="3931920"/>
            <a:ext cx="4887468" cy="1508760"/>
          </a:xfrm>
          <a:prstGeom prst="roundRect">
            <a:avLst>
              <a:gd name="adj" fmla="val 3636"/>
            </a:avLst>
          </a:prstGeom>
          <a:solidFill>
            <a:srgbClr val="E8F1FB"/>
          </a:solidFill>
          <a:ln w="12700">
            <a:solidFill>
              <a:srgbClr val="D3E4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737860" y="4114800"/>
            <a:ext cx="43754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45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 정보의 우위는 여전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37860" y="4480560"/>
            <a:ext cx="4375404" cy="0"/>
          </a:xfrm>
          <a:prstGeom prst="line">
            <a:avLst/>
          </a:prstGeom>
          <a:noFill/>
          <a:ln w="9525">
            <a:solidFill>
              <a:srgbClr val="C3D9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737860" y="4590288"/>
            <a:ext cx="43754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245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 벡터가 +0.347로 압도적 (29승 1패).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2450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정보가 어떤 시각 정보보다 강하게 작용.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5806440"/>
            <a:ext cx="10049256" cy="566928"/>
          </a:xfrm>
          <a:prstGeom prst="roundRect">
            <a:avLst>
              <a:gd name="adj" fmla="val 8065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94360" y="5806440"/>
            <a:ext cx="9500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질문 : 생성 뷰의 품질을 정답 없이 판별할 수 있다면, 평균 성능도 유의한 수준까지 올라갈 수 있는가?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20656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6384"/>
            <a:ext cx="10689336" cy="24688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Users/jang-young-a/Downloads/agent_cad_260820-master/paper/assets/logo_ka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70432"/>
            <a:ext cx="1298448" cy="603504"/>
          </a:xfrm>
          <a:prstGeom prst="rect">
            <a:avLst/>
          </a:prstGeom>
        </p:spPr>
      </p:pic>
      <p:pic>
        <p:nvPicPr>
          <p:cNvPr id="4" name="Image 1" descr="/Users/jang-young-a/Downloads/agent_cad_260820-master/paper/assets/logo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8" y="1115568"/>
            <a:ext cx="713232" cy="7132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32520" y="12070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인공지능응용연구실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732520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Applied AI Section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3108960"/>
            <a:ext cx="95920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548640" y="4617720"/>
            <a:ext cx="9592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장영아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4983480"/>
            <a:ext cx="9592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jya03@kaeri.re.kr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31520" y="6035040"/>
            <a:ext cx="9226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연구는 과학기술정보통신부 재원의 기관전략개발단(ISD) 사업(No. 526140-26), 과학기술정보통신부와 연구개발특구진흥재단의 전략기술 연구성과 사업화 사업(AI빅테크 R&amp;BD),</a:t>
            </a:r>
            <a:endParaRPr lang="en-US" sz="8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과학기술정보통신부와 한국연구재단의 비파괴검사 기술역량 강화사업(No. RS-2026-25545949)의 지원을 받아 수행되었습니다.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9820656" y="6355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898</Words>
  <Application>Microsoft Macintosh PowerPoint</Application>
  <PresentationFormat>사용자 지정</PresentationFormat>
  <Paragraphs>192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Imagination 기반 정사투영 뷰</dc:title>
  <dc:subject>PptxGenJS Presentation</dc:subject>
  <dc:creator>Yeong-A Jang</dc:creator>
  <cp:lastModifiedBy>장영아</cp:lastModifiedBy>
  <cp:revision>2</cp:revision>
  <dcterms:created xsi:type="dcterms:W3CDTF">2026-08-25T03:20:17Z</dcterms:created>
  <dcterms:modified xsi:type="dcterms:W3CDTF">2026-08-25T03:49:15Z</dcterms:modified>
</cp:coreProperties>
</file>