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algun Gothic"/>
              </a:defRPr>
            </a:pPr>
            <a:r>
              <a:rPr lang="ko-KR" altLang="en-US" sz="1100" b="0" i="0" u="none" strike="noStrike">
                <a:solidFill>
                  <a:srgbClr val="6B7280"/>
                </a:solidFill>
                <a:latin typeface="Malgun Gothic"/>
              </a:rPr>
              <a:t>유효 생성률 </a:t>
            </a:r>
            <a:r>
              <a:rPr lang="en-US" altLang="ko-KR" sz="1100" b="0" i="0" u="none" strike="noStrike">
                <a:solidFill>
                  <a:srgbClr val="6B7280"/>
                </a:solidFill>
                <a:latin typeface="Malgun Gothic"/>
              </a:rPr>
              <a:t>(%) · </a:t>
            </a:r>
            <a:r>
              <a:rPr lang="en" sz="1100" b="0" i="0" u="none" strike="noStrike">
                <a:solidFill>
                  <a:srgbClr val="6B7280"/>
                </a:solidFill>
                <a:latin typeface="Malgun Gothic"/>
              </a:rPr>
              <a:t>gemini-2.5-flash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유효율</c:v>
                </c:pt>
              </c:strCache>
            </c:strRef>
          </c:tx>
          <c:spPr>
            <a:solidFill>
              <a:srgbClr val="9DC3F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DC3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FDC-7F4D-93F5-16ED05B1C1D1}"/>
              </c:ext>
            </c:extLst>
          </c:dPt>
          <c:dPt>
            <c:idx val="1"/>
            <c:invertIfNegative val="0"/>
            <c:bubble3D val="0"/>
            <c:spPr>
              <a:solidFill>
                <a:srgbClr val="9DC3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DC-7F4D-93F5-16ED05B1C1D1}"/>
              </c:ext>
            </c:extLst>
          </c:dPt>
          <c:dPt>
            <c:idx val="2"/>
            <c:invertIfNegative val="0"/>
            <c:bubble3D val="0"/>
            <c:spPr>
              <a:solidFill>
                <a:srgbClr val="1C6F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DC-7F4D-93F5-16ED05B1C1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85</c:v>
                </c:pt>
                <c:pt idx="2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DC-7F4D-93F5-16ED05B1C1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algun Gothic"/>
              </a:defRPr>
            </a:pPr>
            <a:r>
              <a:rPr lang="ko-KR" altLang="en-US" sz="1100" b="0" i="0" u="none" strike="noStrike">
                <a:solidFill>
                  <a:srgbClr val="6B7280"/>
                </a:solidFill>
                <a:latin typeface="Malgun Gothic"/>
              </a:rPr>
              <a:t>회전 정렬 </a:t>
            </a:r>
            <a:r>
              <a:rPr lang="en" sz="1100" b="0" i="0" u="none" strike="noStrike">
                <a:solidFill>
                  <a:srgbClr val="6B7280"/>
                </a:solidFill>
                <a:latin typeface="Malgun Gothic"/>
              </a:rPr>
              <a:t>Voxel IoU (</a:t>
            </a:r>
            <a:r>
              <a:rPr lang="ko-KR" altLang="en-US" sz="1100" b="0" i="0" u="none" strike="noStrike">
                <a:solidFill>
                  <a:srgbClr val="6B7280"/>
                </a:solidFill>
                <a:latin typeface="Malgun Gothic"/>
              </a:rPr>
              <a:t>유효분 평균</a:t>
            </a:r>
            <a:r>
              <a:rPr lang="en-US" altLang="ko-KR" sz="1100" b="0" i="0" u="none" strike="noStrike">
                <a:solidFill>
                  <a:srgbClr val="6B7280"/>
                </a:solidFill>
                <a:latin typeface="Malgun Gothic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gemini-2.5-flash</c:v>
                </c:pt>
              </c:strCache>
            </c:strRef>
          </c:tx>
          <c:spPr>
            <a:solidFill>
              <a:srgbClr val="9DC3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0.23899999999999999</c:v>
                </c:pt>
                <c:pt idx="1">
                  <c:v>0.33400000000000002</c:v>
                </c:pt>
                <c:pt idx="2">
                  <c:v>0.49199999999999999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B0-234A-9852-2CDED0CE70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gemini-3.1-pro-preview</c:v>
                </c:pt>
              </c:strCache>
            </c:strRef>
          </c:tx>
          <c:spPr>
            <a:solidFill>
              <a:srgbClr val="1C6FC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0.28000000000000003</c:v>
                </c:pt>
                <c:pt idx="1">
                  <c:v>0.38</c:v>
                </c:pt>
                <c:pt idx="2">
                  <c:v>0.67300000000000004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B0-234A-9852-2CDED0CE70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73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9144000" cy="256032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한국원자력연구원
</a:t>
            </a: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 Atomic Energy Research Institute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9496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인공지능응용연구실
</a:t>
            </a: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Applied AI 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거대언어모델 기반 3D CAD 생성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모달리티별 생성 성능 비교 실험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840480" y="3886200"/>
            <a:ext cx="1463040" cy="0"/>
          </a:xfrm>
          <a:prstGeom prst="line">
            <a:avLst/>
          </a:prstGeom>
          <a:noFill/>
          <a:ln w="1905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인공지능응용연구실 :: 한국원자력연구원 (KAERI)
</a:t>
            </a: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장영아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jya03@kaeri.re.kr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9144000" cy="256032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548640" cy="548640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801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691640"/>
            <a:ext cx="7406640" cy="77724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554480" y="1801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 · 입력 모달리티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734056"/>
            <a:ext cx="548640" cy="548640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27340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80160" y="2624328"/>
            <a:ext cx="7406640" cy="77724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554480" y="273405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생성률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081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/ 이미지 / 벡터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548640" cy="548640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6667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3557016"/>
            <a:ext cx="7406640" cy="77724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554480" y="366674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정확도 (Voxel IoU)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0142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정렬 · 두 모델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599432"/>
            <a:ext cx="548640" cy="548640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599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80160" y="4489704"/>
            <a:ext cx="7406640" cy="77724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554480" y="45994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요구조건 만족률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9469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CADTestBench 방식 · 자체 검사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80160" y="5422392"/>
            <a:ext cx="7406640" cy="77724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554480" y="5532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 &amp; 다음 계획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8795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→ 3D 전이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험  설 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실험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 :  2D에서 확인된 입력 모달리티 순서(벡터 &gt; 이미지 &gt; 텍스트)가 3D 형상 생성에서도 유지되는가?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977640" cy="3840480"/>
          </a:xfrm>
          <a:prstGeom prst="roundRect">
            <a:avLst>
              <a:gd name="adj" fmla="val 142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5694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A S E   S E T U 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2880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gemini-2.5-flash / 3.1-pro-preview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3337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FreeCAD 기계 부품 20개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3794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3794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 8 / medium 9 / hard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4251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28800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LLM→replicad→OCCT→STEP/STL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4709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지표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회전정렬 Voxel IoU + 요구조건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5166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28800" y="5166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부품 STEP (GT)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5623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28800" y="56235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× 3 모달리티 × 2 모델 = 120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423160"/>
            <a:ext cx="3977640" cy="3840480"/>
          </a:xfrm>
          <a:prstGeom prst="roundRect">
            <a:avLst>
              <a:gd name="adj" fmla="val 142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0" y="25694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X P E R I M E N T   S T R U C T U R 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입력 모달리티 (동일 base 텍스트 공유)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2918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부품 설명 문장만
</a:t>
            </a: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등각 렌더 PNG
</a:t>
            </a: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</a:t>
            </a: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TechDraw 정투영 SVG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5029200"/>
            <a:ext cx="35204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5166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밀도:  텍스트  &lt;  이미지  &lt;  벡터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5532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선행연구(국기)에서 벡터 최고(IoU 0.835)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3D에서도 유지되는지 검증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험  설 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모달리티 3종 — 같은 부품, 다른 입력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부품 :  U-bracket (easy)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51760" cy="361188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31820"/>
            <a:ext cx="2286000" cy="16459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312039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"U-bracket;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 hole;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symmetric"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85191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설명 문장만.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치수·비율·세부는 없음.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965960"/>
            <a:ext cx="2651760" cy="361188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(등각 PNG)</a:t>
            </a:r>
            <a:endParaRPr lang="en-US" sz="1300" dirty="0"/>
          </a:p>
        </p:txBody>
      </p:sp>
      <p:pic>
        <p:nvPicPr>
          <p:cNvPr id="13" name="Image 0" descr="/Users/jang-young-a/Desktop/test_cad/benchmark/freecad_20_selected/images/000001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20440" y="3131820"/>
            <a:ext cx="2194560" cy="16459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126480" y="1965960"/>
            <a:ext cx="2651760" cy="3611880"/>
          </a:xfrm>
          <a:prstGeom prst="roundRect">
            <a:avLst>
              <a:gd name="adj" fmla="val 206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30936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(TechDraw SVG)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밀도: 텍스트(성김) &lt; 이미지(등각 1뷰) &lt; 벡터(정투영 다뷰). 3D에서 벡터는 2D 도면을 3D로 역산해야 함.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6B5BC5B-CD18-E34A-7DDF-C97E29E39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988" y="3131820"/>
            <a:ext cx="2164743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x p :  생 성  안 정 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모달리티별 유효 생성률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3931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2103120"/>
            <a:ext cx="109728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60720" y="2103120"/>
            <a:ext cx="91440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75120" y="2103120"/>
            <a:ext cx="68580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60920" y="2103120"/>
            <a:ext cx="68580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0" y="2103120"/>
            <a:ext cx="64008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63440" y="248716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60720" y="2487168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75120" y="2487168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7/8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60920" y="2487168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0" y="2487168"/>
            <a:ext cx="6400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63440" y="2871216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2871216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0" y="2871216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7/8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60920" y="2871216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8/9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0" y="2871216"/>
            <a:ext cx="6400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63440" y="3255264"/>
            <a:ext cx="109728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60720" y="3255264"/>
            <a:ext cx="91440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75120" y="3255264"/>
            <a:ext cx="68580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8/8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60920" y="3255264"/>
            <a:ext cx="68580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046720" y="3255264"/>
            <a:ext cx="64008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2/3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448056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937760" y="4480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&lt; 이미지 &lt; 벡터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단조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endParaRPr lang="en-US" sz="13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결과와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x p :  형 상  정 확 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모달리티별 정확도 (회전 정렬 Voxel IoU)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 Intersection over Union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4572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303520" y="2103120"/>
            <a:ext cx="11887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2240" y="2103120"/>
            <a:ext cx="105156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2.5-flash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43800" y="2103120"/>
            <a:ext cx="105156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3.1-pro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0" y="2487168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92240" y="2487168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0.239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43800" y="2487168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0.280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2871216"/>
            <a:ext cx="11887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871216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0.334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43800" y="2871216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0.380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3255264"/>
            <a:ext cx="11887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92240" y="3255264"/>
            <a:ext cx="105156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0.492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43800" y="3255264"/>
            <a:ext cx="105156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0.673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03520" y="416052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577840" y="4160520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&lt; 이미지 &lt;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순</a:t>
            </a:r>
            <a:endParaRPr lang="en-US" sz="13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3.1-pro에서 벡터 0.673으로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앞섬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x p :  요 구 조 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요구조건 만족률 (피처 기반)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CADTestBench 방식 참고 · 검사 항목은 정답 STEP에서 자동 도출 (자체 정의): R1 유효 · R2 부품수 · R4 비율 · R5 중공 · R6 연결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gemini-2.5-flash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00584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68580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2377440"/>
            <a:ext cx="5029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5029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2377440"/>
            <a:ext cx="5029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5029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2377440"/>
            <a:ext cx="5029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761488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761488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7614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.75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7614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27614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7614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.40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27614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145536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145536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31455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.90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31455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.75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54680" y="31455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.55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31455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.70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31455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.75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529584"/>
            <a:ext cx="100584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3529584"/>
            <a:ext cx="68580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48840" y="3529584"/>
            <a:ext cx="5029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.90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51760" y="3529584"/>
            <a:ext cx="5029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.70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54680" y="3529584"/>
            <a:ext cx="5029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.80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3529584"/>
            <a:ext cx="5029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.65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60520" y="3529584"/>
            <a:ext cx="5029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.60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2057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gemini-3.1-pro-preview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3440" y="2377440"/>
            <a:ext cx="100584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2377440"/>
            <a:ext cx="68580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2377440"/>
            <a:ext cx="5029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2377440"/>
            <a:ext cx="5029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60920" y="2377440"/>
            <a:ext cx="5029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63840" y="2377440"/>
            <a:ext cx="5029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66760" y="2377440"/>
            <a:ext cx="502920" cy="38404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2761488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2761488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27614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.85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0" y="27614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.90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60920" y="27614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.30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863840" y="27614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.65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66760" y="27614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.80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63440" y="3145536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0" y="3145536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55080" y="31455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.90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0" y="31455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.70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360920" y="31455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.65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863840" y="31455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.70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366760" y="31455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.65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63440" y="3529584"/>
            <a:ext cx="100584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69280" y="3529584"/>
            <a:ext cx="68580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0.87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55080" y="3529584"/>
            <a:ext cx="5029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.95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858000" y="3529584"/>
            <a:ext cx="5029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.85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360920" y="3529584"/>
            <a:ext cx="5029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.90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863840" y="3529584"/>
            <a:ext cx="5029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.80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366760" y="3529584"/>
            <a:ext cx="502920" cy="384048"/>
          </a:xfrm>
          <a:prstGeom prst="rect">
            <a:avLst/>
          </a:prstGeom>
          <a:solidFill>
            <a:srgbClr val="E8F0FB"/>
          </a:solidFill>
          <a:ln w="9525">
            <a:solidFill>
              <a:srgbClr val="E3E6EA"/>
            </a:solidFill>
          </a:ln>
        </p:spPr>
        <p:txBody>
          <a:bodyPr wrap="square" lIns="25400" tIns="50800" rIns="508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.85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" y="4480560"/>
            <a:ext cx="8229600" cy="1280160"/>
          </a:xfrm>
          <a:prstGeom prst="roundRect">
            <a:avLst>
              <a:gd name="adj" fmla="val 4286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731520" y="44805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모두 텍스트 최저. </a:t>
            </a:r>
          </a:p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벡터는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비율(R4), 이미지는 연결성(R6)에 강점.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3.1-pro는 텍스트 종합 0.38→0.70으로 크게 향상, 벡터 0.87 최고.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 성  결 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형상 — U-bracket (쉬움)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형상 (GT)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0116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private/tmp/claude-501/-Users-jang-young-a-Desktop-test-cad/886ad16b-5377-4408-b4ce-152aacd677a5/scratchpad/ppt_shots/gt_000001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920240"/>
            <a:ext cx="182880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7947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 구멍 1개가 있는 대칭 U자 브래킷. 벡터가 형상·비율을 가장 잘 재현.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880360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</a:t>
            </a: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56048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9B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</a:t>
            </a: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31736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C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</a:t>
            </a: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88920" y="1947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gemini-2.5-flash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80360" y="224028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/private/tmp/claude-501/-Users-jang-young-a-Desktop-test-cad/886ad16b-5377-4408-b4ce-152aacd677a5/scratchpad/ppt_shots/free_text_0000014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26080" y="2267712"/>
            <a:ext cx="1874520" cy="1325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377647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0.522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56048" y="224028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private/tmp/claude-501/-Users-jang-young-a-Desktop-test-cad/886ad16b-5377-4408-b4ce-152aacd677a5/scratchpad/ppt_shots/free_image_0000014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01768" y="2267712"/>
            <a:ext cx="1874520" cy="1325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56048" y="377647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0.585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031736" y="224028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/private/tmp/claude-501/-Users-jang-young-a-Desktop-test-cad/886ad16b-5377-4408-b4ce-152aacd677a5/scratchpad/ppt_shots/free_vector_0000014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77456" y="2267712"/>
            <a:ext cx="1874520" cy="1325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31736" y="377647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0.798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2788920" y="427939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gemini-3.1-pro-preview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880360" y="457200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/private/tmp/claude-501/-Users-jang-young-a-Desktop-test-cad/886ad16b-5377-4408-b4ce-152aacd677a5/scratchpad/ppt_shots/paid_text_0000014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26080" y="4599432"/>
            <a:ext cx="1874520" cy="1325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880360" y="6108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0.434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956048" y="457200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/private/tmp/claude-501/-Users-jang-young-a-Desktop-test-cad/886ad16b-5377-4408-b4ce-152aacd677a5/scratchpad/ppt_shots/paid_image_00000145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01768" y="4599432"/>
            <a:ext cx="1874520" cy="1325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56048" y="6108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0.651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7031736" y="457200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/private/tmp/claude-501/-Users-jang-young-a-Desktop-test-cad/886ad16b-5377-4408-b4ce-152aacd677a5/scratchpad/ppt_shots/paid_vector_00000145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077456" y="4599432"/>
            <a:ext cx="1874520" cy="1325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31736" y="6108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0.870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 성  결 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형상 — curved clamp (보통)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형상 (GT)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0116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private/tmp/claude-501/-Users-jang-young-a-Desktop-test-cad/886ad16b-5377-4408-b4ce-152aacd677a5/scratchpad/ppt_shots/gt_0000024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920240"/>
            <a:ext cx="182880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7947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곡면 클램프 + 양측 구멍. 텍스트는 형상 실패, 유료 벡터가 0.989로 거의 일치.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880360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</a:t>
            </a: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56048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9B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</a:t>
            </a: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31736" y="15727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CF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</a:t>
            </a: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88920" y="19476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gemini-2.5-flash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80360" y="224028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/private/tmp/claude-501/-Users-jang-young-a-Desktop-test-cad/886ad16b-5377-4408-b4ce-152aacd677a5/scratchpad/ppt_shots/free_text_0000024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26080" y="2267712"/>
            <a:ext cx="1874520" cy="1325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377647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0.160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56048" y="224028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/private/tmp/claude-501/-Users-jang-young-a-Desktop-test-cad/886ad16b-5377-4408-b4ce-152aacd677a5/scratchpad/ppt_shots/free_image_0000024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01768" y="2267712"/>
            <a:ext cx="1874520" cy="1325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56048" y="377647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0.168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031736" y="224028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/private/tmp/claude-501/-Users-jang-young-a-Desktop-test-cad/886ad16b-5377-4408-b4ce-152aacd677a5/scratchpad/ppt_shots/free_vector_0000024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77456" y="2267712"/>
            <a:ext cx="1874520" cy="1325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31736" y="377647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0.411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2788920" y="427939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gemini-3.1-pro-preview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880360" y="457200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/private/tmp/claude-501/-Users-jang-young-a-Desktop-test-cad/886ad16b-5377-4408-b4ce-152aacd677a5/scratchpad/ppt_shots/paid_text_00000249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26080" y="4599432"/>
            <a:ext cx="1874520" cy="1325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880360" y="6108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0.087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956048" y="457200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/private/tmp/claude-501/-Users-jang-young-a-Desktop-test-cad/886ad16b-5377-4408-b4ce-152aacd677a5/scratchpad/ppt_shots/paid_image_00000249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01768" y="4599432"/>
            <a:ext cx="1874520" cy="1325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56048" y="6108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0.762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7031736" y="4572000"/>
            <a:ext cx="19659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/private/tmp/claude-501/-Users-jang-young-a-Desktop-test-cad/886ad16b-5377-4408-b4ce-152aacd677a5/scratchpad/ppt_shots/paid_vector_00000249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077456" y="4599432"/>
            <a:ext cx="1874520" cy="1325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31736" y="6108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0.989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 과  해 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→ 3D 전이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77640" cy="1691640"/>
          </a:xfrm>
          <a:prstGeom prst="roundRect">
            <a:avLst>
              <a:gd name="adj" fmla="val 2703"/>
            </a:avLst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순서 전이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40864"/>
            <a:ext cx="3520440" cy="0"/>
          </a:xfrm>
          <a:prstGeom prst="line">
            <a:avLst/>
          </a:prstGeom>
          <a:noFill/>
          <a:ln w="12700">
            <a:solidFill>
              <a:srgbClr val="B9D3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2432304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&gt; 이미지 &gt; </a:t>
            </a:r>
            <a:r>
              <a:rPr lang="en-US" sz="11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1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유효율·IoU·요구조건</a:t>
            </a: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전반에서 재현.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3.1-pro에서 격차 더 뚜렷.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737360"/>
            <a:ext cx="3977640" cy="1691640"/>
          </a:xfrm>
          <a:prstGeom prst="roundRect">
            <a:avLst>
              <a:gd name="adj" fmla="val 2703"/>
            </a:avLst>
          </a:prstGeom>
          <a:solidFill>
            <a:srgbClr val="E8F0FB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강점의 축이 다름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7760" y="2340864"/>
            <a:ext cx="3520440" cy="0"/>
          </a:xfrm>
          <a:prstGeom prst="line">
            <a:avLst/>
          </a:prstGeom>
          <a:noFill/>
          <a:ln w="12700">
            <a:solidFill>
              <a:srgbClr val="B9D3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2432304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 형상·비율(R4)</a:t>
            </a:r>
            <a:r>
              <a:rPr lang="ko-KR" altLang="en-US" sz="11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ko-KR" alt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강함</a:t>
            </a:r>
            <a:endParaRPr lang="en-US" sz="110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부품 연결·구성(R6)</a:t>
            </a:r>
            <a:r>
              <a:rPr lang="en-US" sz="11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3977640" cy="1691640"/>
          </a:xfrm>
          <a:prstGeom prst="roundRect">
            <a:avLst>
              <a:gd name="adj" fmla="val 270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두 지표 병행 필요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4215384"/>
            <a:ext cx="35204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306824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IoU(전체 형상)와 요구조건(피처)은 서로 다른 </a:t>
            </a:r>
            <a:r>
              <a:rPr lang="en-US" sz="11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것을</a:t>
            </a: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611880"/>
            <a:ext cx="3977640" cy="1691640"/>
          </a:xfrm>
          <a:prstGeom prst="roundRect">
            <a:avLst>
              <a:gd name="adj" fmla="val 2703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3776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3D는 2D보다 어려움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4215384"/>
            <a:ext cx="35204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4306824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IoU가 2D(0.835)보다 </a:t>
            </a:r>
            <a:r>
              <a:rPr lang="en-US" sz="11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낮음</a:t>
            </a: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ko-KR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sym typeface="Wingdings" pitchFamily="2" charset="2"/>
              </a:rPr>
              <a:t></a:t>
            </a:r>
            <a:r>
              <a:rPr lang="ko-KR" alt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sym typeface="Wingdings" pitchFamily="2" charset="2"/>
              </a:rPr>
              <a:t> </a:t>
            </a: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생성 난이도·부피 겹침 지표의 엄격함 때문.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 제  ·  계 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중 문제 사항 &amp; 다음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77640" cy="4114800"/>
          </a:xfrm>
          <a:prstGeom prst="roundRect">
            <a:avLst>
              <a:gd name="adj" fmla="val 137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험  중  문 제  ( 해 결 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토큰 절단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76148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8K 한도 → 65K 상향 + 이어쓰기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미정렬 IoU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13308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맞아도 저평가 → 24축 회전 정렬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3977640" cy="4114800"/>
          </a:xfrm>
          <a:prstGeom prst="roundRect">
            <a:avLst>
              <a:gd name="adj" fmla="val 137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8836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음  계 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다중 seed 반복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76148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 유의성(신뢰구간) 확보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749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hard 난이도 보강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413308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× 모달리티 상호작용 분석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9144000" cy="256032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한국원자력연구원
</a:t>
            </a: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 Atomic Energy Research Institute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9496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인공지능응용연구실
</a:t>
            </a: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Applied AI 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장영아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jya03@kaeri.re.kr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928</Words>
  <Application>Microsoft Macintosh PowerPoint</Application>
  <PresentationFormat>화면 슬라이드 쇼(4:3)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장영아</cp:lastModifiedBy>
  <cp:revision>2</cp:revision>
  <dcterms:created xsi:type="dcterms:W3CDTF">2026-07-27T01:23:44Z</dcterms:created>
  <dcterms:modified xsi:type="dcterms:W3CDTF">2026-07-27T01:31:17Z</dcterms:modified>
</cp:coreProperties>
</file>