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69" r:id="rId3"/>
    <p:sldId id="257" r:id="rId4"/>
    <p:sldId id="259" r:id="rId5"/>
    <p:sldId id="260" r:id="rId6"/>
    <p:sldId id="274" r:id="rId7"/>
    <p:sldId id="275" r:id="rId8"/>
    <p:sldId id="276" r:id="rId9"/>
    <p:sldId id="270" r:id="rId10"/>
    <p:sldId id="265" r:id="rId11"/>
    <p:sldId id="271" r:id="rId12"/>
    <p:sldId id="267" r:id="rId13"/>
    <p:sldId id="268" r:id="rId14"/>
    <p:sldId id="261" r:id="rId15"/>
    <p:sldId id="262" r:id="rId16"/>
    <p:sldId id="263" r:id="rId17"/>
    <p:sldId id="272" r:id="rId18"/>
    <p:sldId id="273" r:id="rId19"/>
    <p:sldId id="264" r:id="rId20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125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168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algun Gothic"/>
              </a:defRPr>
            </a:pPr>
            <a:r>
              <a:rPr lang="ko-KR" altLang="en-US" sz="1100" b="0" i="0" u="none" strike="noStrike">
                <a:solidFill>
                  <a:srgbClr val="6B7280"/>
                </a:solidFill>
                <a:latin typeface="Malgun Gothic"/>
              </a:rPr>
              <a:t>유효 생성률 </a:t>
            </a:r>
            <a:r>
              <a:rPr lang="en-US" altLang="ko-KR" sz="1100" b="0" i="0" u="none" strike="noStrike">
                <a:solidFill>
                  <a:srgbClr val="6B7280"/>
                </a:solidFill>
                <a:latin typeface="Malgun Gothic"/>
              </a:rPr>
              <a:t>(%) · </a:t>
            </a:r>
            <a:r>
              <a:rPr lang="en" sz="1100" b="0" i="0" u="none" strike="noStrike">
                <a:solidFill>
                  <a:srgbClr val="6B7280"/>
                </a:solidFill>
                <a:latin typeface="Malgun Gothic"/>
              </a:rPr>
              <a:t>gemini-2.5-flash · </a:t>
            </a:r>
            <a:r>
              <a:rPr lang="ko-KR" altLang="en-US" sz="1100" b="0" i="0" u="none" strike="noStrike">
                <a:solidFill>
                  <a:srgbClr val="6B7280"/>
                </a:solidFill>
                <a:latin typeface="Malgun Gothic"/>
              </a:rPr>
              <a:t>재시도 전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유효율</c:v>
                </c:pt>
              </c:strCache>
            </c:strRef>
          </c:tx>
          <c:spPr>
            <a:solidFill>
              <a:srgbClr val="9DC3F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DC3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A7A-AA4A-9F5A-EEFAA0F3D500}"/>
              </c:ext>
            </c:extLst>
          </c:dPt>
          <c:dPt>
            <c:idx val="1"/>
            <c:invertIfNegative val="0"/>
            <c:bubble3D val="0"/>
            <c:spPr>
              <a:solidFill>
                <a:srgbClr val="9DC3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A7A-AA4A-9F5A-EEFAA0F3D500}"/>
              </c:ext>
            </c:extLst>
          </c:dPt>
          <c:dPt>
            <c:idx val="2"/>
            <c:invertIfNegative val="0"/>
            <c:bubble3D val="0"/>
            <c:spPr>
              <a:solidFill>
                <a:srgbClr val="1C6F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A7A-AA4A-9F5A-EEFAA0F3D50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텍스트</c:v>
                </c:pt>
                <c:pt idx="1">
                  <c:v>이미지</c:v>
                </c:pt>
                <c:pt idx="2">
                  <c:v>벡터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85</c:v>
                </c:pt>
                <c:pt idx="2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A7A-AA4A-9F5A-EEFAA0F3D5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A636E"/>
                </a:solidFill>
                <a:latin typeface="Malgun Gothic"/>
              </a:defRPr>
            </a:pPr>
            <a:r>
              <a:rPr lang="ko-KR" altLang="en-US" sz="1100" b="0" i="0" u="none" strike="noStrike">
                <a:solidFill>
                  <a:srgbClr val="5A636E"/>
                </a:solidFill>
                <a:latin typeface="Malgun Gothic"/>
              </a:rPr>
              <a:t>회전정렬 </a:t>
            </a:r>
            <a:r>
              <a:rPr lang="en" sz="1100" b="0" i="0" u="none" strike="noStrike">
                <a:solidFill>
                  <a:srgbClr val="5A636E"/>
                </a:solidFill>
                <a:latin typeface="Malgun Gothic"/>
              </a:rPr>
              <a:t>Voxel IoU (</a:t>
            </a:r>
            <a:r>
              <a:rPr lang="ko-KR" altLang="en-US" sz="1100" b="0" i="0" u="none" strike="noStrike">
                <a:solidFill>
                  <a:srgbClr val="5A636E"/>
                </a:solidFill>
                <a:latin typeface="Malgun Gothic"/>
              </a:rPr>
              <a:t>유효분 평균</a:t>
            </a:r>
            <a:r>
              <a:rPr lang="en-US" altLang="ko-KR" sz="1100" b="0" i="0" u="none" strike="noStrike">
                <a:solidFill>
                  <a:srgbClr val="5A636E"/>
                </a:solidFill>
                <a:latin typeface="Malgun Gothic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gemini-2.5-flash</c:v>
                </c:pt>
              </c:strCache>
            </c:strRef>
          </c:tx>
          <c:spPr>
            <a:solidFill>
              <a:srgbClr val="AFC9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831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텍스트</c:v>
                </c:pt>
                <c:pt idx="1">
                  <c:v>이미지</c:v>
                </c:pt>
                <c:pt idx="2">
                  <c:v>벡터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0.23899999999999999</c:v>
                </c:pt>
                <c:pt idx="1">
                  <c:v>0.33400000000000002</c:v>
                </c:pt>
                <c:pt idx="2">
                  <c:v>0.49199999999999999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E6-8643-9ECC-BCA3F778B52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gemini-3.1-pro</c:v>
                </c:pt>
              </c:strCache>
            </c:strRef>
          </c:tx>
          <c:spPr>
            <a:solidFill>
              <a:srgbClr val="1667C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831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텍스트</c:v>
                </c:pt>
                <c:pt idx="1">
                  <c:v>이미지</c:v>
                </c:pt>
                <c:pt idx="2">
                  <c:v>벡터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0.28000000000000003</c:v>
                </c:pt>
                <c:pt idx="1">
                  <c:v>0.38</c:v>
                </c:pt>
                <c:pt idx="2">
                  <c:v>0.67300000000000004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E6-8643-9ECC-BCA3F778B5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831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7A0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algun Gothic"/>
              </a:defRPr>
            </a:pPr>
            <a:r>
              <a:rPr lang="ko-KR" altLang="en-US" sz="1100" b="0" i="0" u="none" strike="noStrike">
                <a:solidFill>
                  <a:srgbClr val="6B7280"/>
                </a:solidFill>
                <a:latin typeface="Malgun Gothic"/>
              </a:rPr>
              <a:t>요구조건 만족률 </a:t>
            </a:r>
            <a:r>
              <a:rPr lang="en-US" altLang="ko-KR" sz="1100" b="0" i="0" u="none" strike="noStrike">
                <a:solidFill>
                  <a:srgbClr val="6B7280"/>
                </a:solidFill>
                <a:latin typeface="Malgun Gothic"/>
              </a:rPr>
              <a:t>(%) · </a:t>
            </a:r>
            <a:r>
              <a:rPr lang="en" sz="1100" b="0" i="0" u="none" strike="noStrike">
                <a:solidFill>
                  <a:srgbClr val="6B7280"/>
                </a:solidFill>
                <a:latin typeface="Malgun Gothic"/>
              </a:rPr>
              <a:t>R1·R2·R4·R5·R6 </a:t>
            </a:r>
            <a:r>
              <a:rPr lang="ko-KR" altLang="en-US" sz="1100" b="0" i="0" u="none" strike="noStrike">
                <a:solidFill>
                  <a:srgbClr val="6B7280"/>
                </a:solidFill>
                <a:latin typeface="Malgun Gothic"/>
              </a:rPr>
              <a:t>평균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gemini-2.5-flash</c:v>
                </c:pt>
              </c:strCache>
            </c:strRef>
          </c:tx>
          <c:spPr>
            <a:solidFill>
              <a:srgbClr val="9DC3F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텍스트</c:v>
                </c:pt>
                <c:pt idx="1">
                  <c:v>이미지</c:v>
                </c:pt>
                <c:pt idx="2">
                  <c:v>벡터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73</c:v>
                </c:pt>
                <c:pt idx="2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0E-B645-A0D1-F030737C5E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gemini-3.1-pro-preview</c:v>
                </c:pt>
              </c:strCache>
            </c:strRef>
          </c:tx>
          <c:spPr>
            <a:solidFill>
              <a:srgbClr val="1C6FC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텍스트</c:v>
                </c:pt>
                <c:pt idx="1">
                  <c:v>이미지</c:v>
                </c:pt>
                <c:pt idx="2">
                  <c:v>벡터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</c:v>
                </c:pt>
                <c:pt idx="1">
                  <c:v>72</c:v>
                </c:pt>
                <c:pt idx="2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0E-B645-A0D1-F030737C5E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algun Gothic"/>
              </a:defRPr>
            </a:pPr>
            <a:r>
              <a:rPr lang="en" sz="1100" b="0" i="0" u="none" strike="noStrike">
                <a:solidFill>
                  <a:srgbClr val="6B7280"/>
                </a:solidFill>
                <a:latin typeface="Malgun Gothic"/>
              </a:rPr>
              <a:t>VLM </a:t>
            </a:r>
            <a:r>
              <a:rPr lang="ko-KR" altLang="en-US" sz="1100" b="0" i="0" u="none" strike="noStrike">
                <a:solidFill>
                  <a:srgbClr val="6B7280"/>
                </a:solidFill>
                <a:latin typeface="Malgun Gothic"/>
              </a:rPr>
              <a:t>특징 완성도 </a:t>
            </a:r>
            <a:r>
              <a:rPr lang="en-US" altLang="ko-KR" sz="1100" b="0" i="0" u="none" strike="noStrike">
                <a:solidFill>
                  <a:srgbClr val="6B7280"/>
                </a:solidFill>
                <a:latin typeface="Malgun Gothic"/>
              </a:rPr>
              <a:t>(%) · 20</a:t>
            </a:r>
            <a:r>
              <a:rPr lang="ko-KR" altLang="en-US" sz="1100" b="0" i="0" u="none" strike="noStrike">
                <a:solidFill>
                  <a:srgbClr val="6B7280"/>
                </a:solidFill>
                <a:latin typeface="Malgun Gothic"/>
              </a:rPr>
              <a:t>부품 평균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gemini-2.5-flash</c:v>
                </c:pt>
              </c:strCache>
            </c:strRef>
          </c:tx>
          <c:spPr>
            <a:solidFill>
              <a:srgbClr val="9DC3F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텍스트</c:v>
                </c:pt>
                <c:pt idx="1">
                  <c:v>이미지</c:v>
                </c:pt>
                <c:pt idx="2">
                  <c:v>벡터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61.9</c:v>
                </c:pt>
                <c:pt idx="1">
                  <c:v>58.4</c:v>
                </c:pt>
                <c:pt idx="2">
                  <c:v>68.5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42-754E-811A-6C777F37E4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gemini-3.1-pro-preview</c:v>
                </c:pt>
              </c:strCache>
            </c:strRef>
          </c:tx>
          <c:spPr>
            <a:solidFill>
              <a:srgbClr val="1C6FC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텍스트</c:v>
                </c:pt>
                <c:pt idx="1">
                  <c:v>이미지</c:v>
                </c:pt>
                <c:pt idx="2">
                  <c:v>벡터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51.6</c:v>
                </c:pt>
                <c:pt idx="1">
                  <c:v>58.5</c:v>
                </c:pt>
                <c:pt idx="2">
                  <c:v>78.8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42-754E-811A-6C777F37E4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3311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9144000" cy="256032"/>
          </a:xfrm>
          <a:prstGeom prst="rect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CAD 생성 — 평가를 어떻게, 왜 그렇게 했나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생성한 3D 형상이 “정답과 얼마나 같은가”를 재는 세 가지 방법과 그 이유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모달리티 비교 실험 · 설명 자료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장영아 · 인공지능응용연구실, 한국원자력연구원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 세  가 지 인 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하나로는 형상을 다 못 본다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“얼마나 닮았나”는 보는 관점마다 답이 다르다. 서로 다른 것을 재는 3축을 함께 본다.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103120" cy="384048"/>
          </a:xfrm>
          <a:prstGeom prst="rect">
            <a:avLst/>
          </a:prstGeom>
          <a:solidFill>
            <a:srgbClr val="1C6FC9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2148840"/>
            <a:ext cx="3474720" cy="384048"/>
          </a:xfrm>
          <a:prstGeom prst="rect">
            <a:avLst/>
          </a:prstGeom>
          <a:solidFill>
            <a:srgbClr val="1C6FC9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보나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2148840"/>
            <a:ext cx="2011680" cy="384048"/>
          </a:xfrm>
          <a:prstGeom prst="rect">
            <a:avLst/>
          </a:prstGeom>
          <a:solidFill>
            <a:srgbClr val="1C6FC9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보는 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32888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Voxel IoU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2532888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형상·비율 (부피 겹침)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532888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창문·구멍 등 세부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916936"/>
            <a:ext cx="2103120" cy="384048"/>
          </a:xfrm>
          <a:prstGeom prst="rect">
            <a:avLst/>
          </a:prstGeom>
          <a:solidFill>
            <a:srgbClr val="F4F5F7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요구조건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916936"/>
            <a:ext cx="3474720" cy="384048"/>
          </a:xfrm>
          <a:prstGeom prst="rect">
            <a:avLst/>
          </a:prstGeom>
          <a:solidFill>
            <a:srgbClr val="F4F5F7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피처 (유효·개수·비율·중공·연결)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916936"/>
            <a:ext cx="2011680" cy="384048"/>
          </a:xfrm>
          <a:prstGeom prst="rect">
            <a:avLst/>
          </a:prstGeom>
          <a:solidFill>
            <a:srgbClr val="F4F5F7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구멍(R3), 세부 형태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300984"/>
            <a:ext cx="2103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VLM 심판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3300984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국소 피처(창문·구멍 수) + 전체 인상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3300984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정량적 재현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7589520" cy="1188720"/>
          </a:xfrm>
          <a:prstGeom prst="roundRect">
            <a:avLst>
              <a:gd name="adj" fmla="val 3846"/>
            </a:avLst>
          </a:prstGeom>
          <a:solidFill>
            <a:srgbClr val="E8F0FB"/>
          </a:solidFill>
          <a:ln w="1270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2960" y="459028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병행하나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864608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한 지표가 높다고 “정확”한 게 아니다. 큰 외형·구조·세부를 나눠 봐야 실제 품질이 드러난다.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 그 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평가하나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만든 3D 형상이 “정답”과 얼마나 같은지를 잰다.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4023360" cy="1737360"/>
          </a:xfrm>
          <a:prstGeom prst="roundRect">
            <a:avLst>
              <a:gd name="adj" fmla="val 3158"/>
            </a:avLst>
          </a:prstGeom>
          <a:solidFill>
            <a:srgbClr val="E8F0FB"/>
          </a:solidFill>
          <a:ln w="1270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8368" y="2295144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정답(GT)은 무엇으로?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715768"/>
            <a:ext cx="3621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부품의 원본 STEP 파일(설계 원본). 사람이 만든 정확한 CAD를 기준으로 삼는다. 렌더 이미지가 아니라 실제 3D 형상이라 부피·구조를 정밀 비교할 수 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148840"/>
            <a:ext cx="4023360" cy="173736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864608" y="2295144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무엇을 비교하나?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2715768"/>
            <a:ext cx="3621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부품을 세 가지 입력(텍스트·이미지·벡터 도면)으로 생성한 결과 ↔ 정답. “어떤 입력이 더 정확한 3D를 만드나”가 핵심 질문.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8229600" cy="1371600"/>
          </a:xfrm>
          <a:prstGeom prst="roundRect">
            <a:avLst>
              <a:gd name="adj" fmla="val 3333"/>
            </a:avLst>
          </a:prstGeom>
          <a:solidFill>
            <a:srgbClr val="E8F0FB"/>
          </a:solidFill>
          <a:ln w="1270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42245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517136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 명확한 20개 부품을, 3가지 입력 × 2개 모델 = 120개 생성물로 만들고, 모두 같은 정답과 비교한다. 공정한 비교를 위해 입력만 바꾸고 나머지는 동일하게 유지.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 표  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 정렬 Voxel IoU — 전체 형상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E8F0FB"/>
          </a:solidFill>
          <a:ln w="1270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58368" y="1700784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121408"/>
            <a:ext cx="3621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생성물·정답을 3D 격자(복셀)로 바꿔 겹치는 부피 비율(0~1)을 잰다. 크기·위치는 중심·최장변으로 정규화.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864608" y="1700784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“회전 정렬”?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2121408"/>
            <a:ext cx="3621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형상이 맞아도 방향이 다르면 겹침이 급락 → 성능을 과소평가. 그래서 24개 축정렬 회전 중 최적 겹침을 취한다.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 w="1270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32644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이렇게 됐나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557016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효과: 방향 아티팩트 제거 후 벡터 IoU가 0.31 → 0.49로 회복. “못한 게 아니라 돌아가 있던” 경우를 바로잡음.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1371600"/>
          </a:xfrm>
          <a:prstGeom prst="roundRect">
            <a:avLst>
              <a:gd name="adj" fmla="val 3333"/>
            </a:avLst>
          </a:prstGeom>
          <a:solidFill>
            <a:srgbClr val="E8F0FB"/>
          </a:solidFill>
          <a:ln w="1270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43159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608576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한계: 벽·칸막이처럼 부피 비중이 작은 세부는 겹침에 거의 안 잡힌다. 큰 껍데기만 맞아도 IoU는 높게 나온다 → 지표 ②③로 보완.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 표  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요구조건 만족률 — 구조 피처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하나와의 겹침만으론 부족 → 정답 STEP에서 “검사 가능한 조건”을 자동으로 뽑아 항목별로 만족 여부를 본다.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1463040" cy="384048"/>
          </a:xfrm>
          <a:prstGeom prst="rect">
            <a:avLst/>
          </a:prstGeom>
          <a:solidFill>
            <a:srgbClr val="1C6FC9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194560"/>
            <a:ext cx="1463040" cy="384048"/>
          </a:xfrm>
          <a:prstGeom prst="rect">
            <a:avLst/>
          </a:prstGeom>
          <a:solidFill>
            <a:srgbClr val="1C6FC9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2194560"/>
            <a:ext cx="1463040" cy="384048"/>
          </a:xfrm>
          <a:prstGeom prst="rect">
            <a:avLst/>
          </a:prstGeom>
          <a:solidFill>
            <a:srgbClr val="1C6FC9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2194560"/>
            <a:ext cx="1463040" cy="384048"/>
          </a:xfrm>
          <a:prstGeom prst="rect">
            <a:avLst/>
          </a:prstGeom>
          <a:solidFill>
            <a:srgbClr val="1C6FC9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2194560"/>
            <a:ext cx="1463040" cy="384048"/>
          </a:xfrm>
          <a:prstGeom prst="rect">
            <a:avLst/>
          </a:prstGeom>
          <a:solidFill>
            <a:srgbClr val="1C6FC9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578608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solid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578608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개수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2578608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2578608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중공 구조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2578608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E8F0FB"/>
          </a:solidFill>
          <a:ln w="1270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58368" y="3346704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CADTestBench 참고?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3767328"/>
            <a:ext cx="3621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테스트로 CAD를 평가하는 최신 방식을 차용. 단, 검사 항목은 우리 정답에서 자동 도출해 자체 정의했다.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20040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64608" y="3346704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R3(구멍) 제외?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3767328"/>
            <a:ext cx="3621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구멍 검출기가 사각 창문을 놓치고 오검출이 많아 신뢰 불가 → 점수에서 빼고 참고용으로만 표시(정직성).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800600"/>
            <a:ext cx="8229600" cy="868680"/>
          </a:xfrm>
          <a:prstGeom prst="roundRect">
            <a:avLst>
              <a:gd name="adj" fmla="val 5263"/>
            </a:avLst>
          </a:prstGeom>
          <a:solidFill>
            <a:srgbClr val="E8F0FB"/>
          </a:solidFill>
          <a:ln w="1270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0080" y="49103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520293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점수 = R1·R2·R4·R5·R6 만족의 평균. 형상이 “부품으로서 성립하는가”를 정량화한다.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843BDED5-50CB-5B96-2F6D-6AE3EE6BD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260" y="1528762"/>
            <a:ext cx="2697480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361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>
            <a:extLst>
              <a:ext uri="{FF2B5EF4-FFF2-40B4-BE49-F238E27FC236}">
                <a16:creationId xmlns:a16="http://schemas.microsoft.com/office/drawing/2014/main" id="{1B6B4C3C-5676-A602-4F54-B15A99AA7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2781300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9">
            <a:extLst>
              <a:ext uri="{FF2B5EF4-FFF2-40B4-BE49-F238E27FC236}">
                <a16:creationId xmlns:a16="http://schemas.microsoft.com/office/drawing/2014/main" id="{60D1F7AB-B417-D695-3152-E9AF6CF98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40000"/>
            <a:ext cx="2781300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675E45AD-925C-26FF-11C9-4FD50C63A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pleMyungjo" pitchFamily="2" charset="-127"/>
                <a:cs typeface="AppleMyungjo" pitchFamily="2" charset="-127"/>
              </a:rPr>
              <a:t>아래 비교 그림에서 왼쪽 주황색은 정답 GT, 파란색은 텍스트 입력, 가운데 주황색은 이미지 입력, 오른쪽 초록색은 벡터 입력 결과다. 각 행은 동일 형상을 서로 다른 방향에서 렌더링한 것이다.</a:t>
            </a:r>
            <a:endParaRPr kumimoji="0" lang="ko-KR" altLang="ko-KR" sz="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26E0DED-8F08-5B65-5B62-A4FAB8743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65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7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7. </a:t>
            </a:r>
            <a:r>
              <a:rPr kumimoji="0" lang="ko-KR" altLang="ko-KR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pleMyungjo" pitchFamily="2" charset="-127"/>
                <a:cs typeface="AppleMyungjo" pitchFamily="2" charset="-127"/>
              </a:rPr>
              <a:t>U자 브래킷(00000145). 입력 방식에 따라 암의 높이, 중앙 구멍과 개방부 보존 정도가 달라진다.</a:t>
            </a:r>
            <a:endParaRPr kumimoji="0" lang="ko-KR" altLang="ko-KR" sz="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05DF93B-1F04-8EA4-07CE-EF533CC82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648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7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8. </a:t>
            </a:r>
            <a:r>
              <a:rPr kumimoji="0" lang="ko-KR" altLang="ko-KR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pleMyungjo" pitchFamily="2" charset="-127"/>
                <a:cs typeface="AppleMyungjo" pitchFamily="2" charset="-127"/>
              </a:rPr>
              <a:t>쌍원형 구멍 웨지 브래킷(00000904). 벡터 결과가 정답의 두 개 원형 feature를 가장 안정적으로 재현한다.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168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C5AA5414-D8B5-FDDE-01FE-07888CEBE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09600"/>
            <a:ext cx="2781300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1">
            <a:extLst>
              <a:ext uri="{FF2B5EF4-FFF2-40B4-BE49-F238E27FC236}">
                <a16:creationId xmlns:a16="http://schemas.microsoft.com/office/drawing/2014/main" id="{933E1B6E-3F2F-BFA2-7566-0B91CD42A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692400"/>
            <a:ext cx="2781300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8">
            <a:extLst>
              <a:ext uri="{FF2B5EF4-FFF2-40B4-BE49-F238E27FC236}">
                <a16:creationId xmlns:a16="http://schemas.microsoft.com/office/drawing/2014/main" id="{A1B036B8-E960-2629-A969-983BD31CF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6D68BED7-FDF3-F874-844C-933CB9DF9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717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7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9. </a:t>
            </a:r>
            <a:r>
              <a:rPr kumimoji="0" lang="ko-KR" altLang="ko-KR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pleMyungjo" pitchFamily="2" charset="-127"/>
                <a:cs typeface="AppleMyungjo" pitchFamily="2" charset="-127"/>
              </a:rPr>
              <a:t>리브가 있는 L자 브래킷(00001496). 세 입력 조건의 기본 방향과 세부 구멍 보존 차이를 보여준다.</a:t>
            </a:r>
            <a:endParaRPr kumimoji="0" lang="ko-KR" altLang="ko-KR" sz="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ADE7ADC-14A1-8A82-DC9E-6DEC1BC18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800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7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10. </a:t>
            </a:r>
            <a:r>
              <a:rPr kumimoji="0" lang="ko-KR" altLang="ko-KR" sz="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pleMyungjo" pitchFamily="2" charset="-127"/>
                <a:cs typeface="AppleMyungjo" pitchFamily="2" charset="-127"/>
              </a:rPr>
              <a:t>창문과 내부 벽이 있는 상자형 인클로저(00002574). 외형이 비슷해도 내부 분할과 개구부가 누락될 수 있다.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164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4037"/>
            <a:ext cx="9144598" cy="93871"/>
          </a:xfrm>
          <a:prstGeom prst="rect">
            <a:avLst/>
          </a:prstGeom>
          <a:solidFill>
            <a:srgbClr val="1667C8"/>
          </a:solidFill>
          <a:ln/>
        </p:spPr>
        <p:txBody>
          <a:bodyPr/>
          <a:lstStyle/>
          <a:p>
            <a:endParaRPr lang="ko-KR" altLang="en-US" sz="1540"/>
          </a:p>
        </p:txBody>
      </p:sp>
      <p:sp>
        <p:nvSpPr>
          <p:cNvPr id="3" name="Text 1"/>
          <p:cNvSpPr/>
          <p:nvPr/>
        </p:nvSpPr>
        <p:spPr>
          <a:xfrm>
            <a:off x="485000" y="585166"/>
            <a:ext cx="5475807" cy="2346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70" kern="0" spc="171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 과  예 시</a:t>
            </a:r>
            <a:endParaRPr lang="en-US" sz="770" dirty="0"/>
          </a:p>
        </p:txBody>
      </p:sp>
      <p:sp>
        <p:nvSpPr>
          <p:cNvPr id="4" name="Text 2"/>
          <p:cNvSpPr/>
          <p:nvPr/>
        </p:nvSpPr>
        <p:spPr>
          <a:xfrm>
            <a:off x="485000" y="835488"/>
            <a:ext cx="8174597" cy="547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53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결과 예시 — 정답 vs 세 모달리티</a:t>
            </a:r>
            <a:endParaRPr lang="en-US" sz="2053" dirty="0"/>
          </a:p>
        </p:txBody>
      </p:sp>
      <p:sp>
        <p:nvSpPr>
          <p:cNvPr id="5" name="Shape 3"/>
          <p:cNvSpPr/>
          <p:nvPr/>
        </p:nvSpPr>
        <p:spPr>
          <a:xfrm>
            <a:off x="485000" y="1461295"/>
            <a:ext cx="8174597" cy="9387"/>
          </a:xfrm>
          <a:prstGeom prst="rect">
            <a:avLst/>
          </a:prstGeom>
          <a:solidFill>
            <a:srgbClr val="E3E6EA"/>
          </a:solidFill>
          <a:ln/>
        </p:spPr>
        <p:txBody>
          <a:bodyPr/>
          <a:lstStyle/>
          <a:p>
            <a:endParaRPr lang="ko-KR" altLang="en-US" sz="1540"/>
          </a:p>
        </p:txBody>
      </p:sp>
      <p:pic>
        <p:nvPicPr>
          <p:cNvPr id="6" name="Image 0" descr="/Users/jang-young-a/Desktop/test_cad/outputs/poster_assets/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561" y="1719440"/>
            <a:ext cx="5109475" cy="38330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7561" y="1719440"/>
            <a:ext cx="5109475" cy="3833065"/>
          </a:xfrm>
          <a:prstGeom prst="roundRect">
            <a:avLst>
              <a:gd name="adj" fmla="val 816"/>
            </a:avLst>
          </a:prstGeom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 sz="1540"/>
          </a:p>
        </p:txBody>
      </p:sp>
      <p:sp>
        <p:nvSpPr>
          <p:cNvPr id="8" name="Text 5"/>
          <p:cNvSpPr/>
          <p:nvPr/>
        </p:nvSpPr>
        <p:spPr>
          <a:xfrm>
            <a:off x="485000" y="5669844"/>
            <a:ext cx="8174597" cy="273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941" dirty="0">
                <a:solidFill>
                  <a:srgbClr val="5A63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좌→우: 정답(GT) · 텍스트 · 이미지 · 벡터   |   부품: curved clamp (양측 구멍)</a:t>
            </a:r>
            <a:endParaRPr lang="en-US" sz="941" dirty="0"/>
          </a:p>
        </p:txBody>
      </p:sp>
      <p:sp>
        <p:nvSpPr>
          <p:cNvPr id="9" name="Shape 6"/>
          <p:cNvSpPr/>
          <p:nvPr/>
        </p:nvSpPr>
        <p:spPr>
          <a:xfrm>
            <a:off x="485000" y="5982747"/>
            <a:ext cx="8174597" cy="508468"/>
          </a:xfrm>
          <a:prstGeom prst="roundRect">
            <a:avLst>
              <a:gd name="adj" fmla="val 12308"/>
            </a:avLst>
          </a:prstGeom>
          <a:solidFill>
            <a:srgbClr val="1667C8"/>
          </a:solidFill>
          <a:ln/>
        </p:spPr>
        <p:txBody>
          <a:bodyPr/>
          <a:lstStyle/>
          <a:p>
            <a:endParaRPr lang="ko-KR" altLang="en-US" sz="1540"/>
          </a:p>
        </p:txBody>
      </p:sp>
      <p:sp>
        <p:nvSpPr>
          <p:cNvPr id="10" name="Text 7"/>
          <p:cNvSpPr/>
          <p:nvPr/>
        </p:nvSpPr>
        <p:spPr>
          <a:xfrm>
            <a:off x="719677" y="6092263"/>
            <a:ext cx="7705243" cy="2346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4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941" dirty="0"/>
          </a:p>
        </p:txBody>
      </p:sp>
      <p:sp>
        <p:nvSpPr>
          <p:cNvPr id="11" name="Text 8"/>
          <p:cNvSpPr/>
          <p:nvPr/>
        </p:nvSpPr>
        <p:spPr>
          <a:xfrm>
            <a:off x="719677" y="6358231"/>
            <a:ext cx="7705243" cy="391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283"/>
              </a:lnSpc>
            </a:pPr>
            <a:r>
              <a:rPr lang="en-US" sz="898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텍스트는 형상 실패(구멍 없는 C링), 벡터는 양측 구멍까지 재현. 이미지는 중간.</a:t>
            </a:r>
            <a:endParaRPr lang="en-US" sz="898" dirty="0"/>
          </a:p>
        </p:txBody>
      </p:sp>
      <p:sp>
        <p:nvSpPr>
          <p:cNvPr id="12" name="Text 9"/>
          <p:cNvSpPr/>
          <p:nvPr/>
        </p:nvSpPr>
        <p:spPr>
          <a:xfrm>
            <a:off x="8440565" y="6272183"/>
            <a:ext cx="391129" cy="2346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770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7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 표 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생성률 — 얼마나 “되는” 형상을 만드나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828800"/>
          <a:ext cx="47548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2194560"/>
            <a:ext cx="3200400" cy="1828800"/>
          </a:xfrm>
          <a:prstGeom prst="roundRect">
            <a:avLst>
              <a:gd name="adj" fmla="val 2500"/>
            </a:avLst>
          </a:prstGeom>
          <a:solidFill>
            <a:srgbClr val="E8F0FB"/>
          </a:solidFill>
          <a:ln w="1270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669280" y="23042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0" y="2578608"/>
            <a:ext cx="283464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75 &lt; 이미지 85 &lt; 벡터 95%로 단조 증가. 실패분은 재생성해 최종 세 방식 모두 20/20 확보.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4037"/>
            <a:ext cx="9144598" cy="93871"/>
          </a:xfrm>
          <a:prstGeom prst="rect">
            <a:avLst/>
          </a:prstGeom>
          <a:solidFill>
            <a:srgbClr val="1667C8"/>
          </a:solidFill>
          <a:ln/>
        </p:spPr>
        <p:txBody>
          <a:bodyPr/>
          <a:lstStyle/>
          <a:p>
            <a:endParaRPr lang="ko-KR" altLang="en-US" sz="1540"/>
          </a:p>
        </p:txBody>
      </p:sp>
      <p:sp>
        <p:nvSpPr>
          <p:cNvPr id="3" name="Text 1"/>
          <p:cNvSpPr/>
          <p:nvPr/>
        </p:nvSpPr>
        <p:spPr>
          <a:xfrm>
            <a:off x="485000" y="585166"/>
            <a:ext cx="5475807" cy="2346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70" kern="0" spc="171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 과  2</a:t>
            </a:r>
            <a:endParaRPr lang="en-US" sz="770" dirty="0"/>
          </a:p>
        </p:txBody>
      </p:sp>
      <p:sp>
        <p:nvSpPr>
          <p:cNvPr id="4" name="Text 2"/>
          <p:cNvSpPr/>
          <p:nvPr/>
        </p:nvSpPr>
        <p:spPr>
          <a:xfrm>
            <a:off x="485000" y="835488"/>
            <a:ext cx="8174597" cy="547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53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 정확도 — 회전정렬 Voxel IoU</a:t>
            </a:r>
            <a:endParaRPr lang="en-US" sz="2053" dirty="0"/>
          </a:p>
        </p:txBody>
      </p:sp>
      <p:sp>
        <p:nvSpPr>
          <p:cNvPr id="5" name="Shape 3"/>
          <p:cNvSpPr/>
          <p:nvPr/>
        </p:nvSpPr>
        <p:spPr>
          <a:xfrm>
            <a:off x="485000" y="1461295"/>
            <a:ext cx="8174597" cy="9387"/>
          </a:xfrm>
          <a:prstGeom prst="rect">
            <a:avLst/>
          </a:prstGeom>
          <a:solidFill>
            <a:srgbClr val="E3E6EA"/>
          </a:solidFill>
          <a:ln/>
        </p:spPr>
        <p:txBody>
          <a:bodyPr/>
          <a:lstStyle/>
          <a:p>
            <a:endParaRPr lang="ko-KR" altLang="en-US" sz="1540"/>
          </a:p>
        </p:txBody>
      </p:sp>
      <p:graphicFrame>
        <p:nvGraphicFramePr>
          <p:cNvPr id="6" name="Chart 0"/>
          <p:cNvGraphicFramePr/>
          <p:nvPr/>
        </p:nvGraphicFramePr>
        <p:xfrm>
          <a:off x="485000" y="1836779"/>
          <a:ext cx="4224194" cy="3520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006452" y="2071456"/>
            <a:ext cx="1408065" cy="344194"/>
          </a:xfrm>
          <a:prstGeom prst="rect">
            <a:avLst/>
          </a:prstGeom>
          <a:solidFill>
            <a:srgbClr val="1667C8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r>
              <a:rPr lang="en-US" sz="85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모달리티</a:t>
            </a:r>
            <a:endParaRPr lang="en-US" sz="856" dirty="0"/>
          </a:p>
        </p:txBody>
      </p:sp>
      <p:sp>
        <p:nvSpPr>
          <p:cNvPr id="8" name="Text 5"/>
          <p:cNvSpPr/>
          <p:nvPr/>
        </p:nvSpPr>
        <p:spPr>
          <a:xfrm>
            <a:off x="6414517" y="2071456"/>
            <a:ext cx="1173387" cy="344194"/>
          </a:xfrm>
          <a:prstGeom prst="rect">
            <a:avLst/>
          </a:prstGeom>
          <a:solidFill>
            <a:srgbClr val="1667C8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algn="ctr"/>
            <a:r>
              <a:rPr lang="en-US" sz="85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flash</a:t>
            </a:r>
            <a:endParaRPr lang="en-US" sz="856" dirty="0"/>
          </a:p>
        </p:txBody>
      </p:sp>
      <p:sp>
        <p:nvSpPr>
          <p:cNvPr id="9" name="Text 6"/>
          <p:cNvSpPr/>
          <p:nvPr/>
        </p:nvSpPr>
        <p:spPr>
          <a:xfrm>
            <a:off x="7587904" y="2071456"/>
            <a:ext cx="1173387" cy="344194"/>
          </a:xfrm>
          <a:prstGeom prst="rect">
            <a:avLst/>
          </a:prstGeom>
          <a:solidFill>
            <a:srgbClr val="1667C8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algn="ctr"/>
            <a:r>
              <a:rPr lang="en-US" sz="85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3.1-pro</a:t>
            </a:r>
            <a:endParaRPr lang="en-US" sz="856" dirty="0"/>
          </a:p>
        </p:txBody>
      </p:sp>
      <p:sp>
        <p:nvSpPr>
          <p:cNvPr id="10" name="Text 7"/>
          <p:cNvSpPr/>
          <p:nvPr/>
        </p:nvSpPr>
        <p:spPr>
          <a:xfrm>
            <a:off x="5006452" y="2415650"/>
            <a:ext cx="1408065" cy="34419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r>
              <a:rPr lang="en-US" sz="856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856" dirty="0"/>
          </a:p>
        </p:txBody>
      </p:sp>
      <p:sp>
        <p:nvSpPr>
          <p:cNvPr id="11" name="Text 8"/>
          <p:cNvSpPr/>
          <p:nvPr/>
        </p:nvSpPr>
        <p:spPr>
          <a:xfrm>
            <a:off x="6414517" y="2415650"/>
            <a:ext cx="1173387" cy="34419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algn="ctr"/>
            <a:r>
              <a:rPr lang="en-US" sz="856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0.239</a:t>
            </a:r>
            <a:endParaRPr lang="en-US" sz="856" dirty="0"/>
          </a:p>
        </p:txBody>
      </p:sp>
      <p:sp>
        <p:nvSpPr>
          <p:cNvPr id="12" name="Text 9"/>
          <p:cNvSpPr/>
          <p:nvPr/>
        </p:nvSpPr>
        <p:spPr>
          <a:xfrm>
            <a:off x="7587904" y="2415650"/>
            <a:ext cx="1173387" cy="34419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algn="ctr"/>
            <a:r>
              <a:rPr lang="en-US" sz="856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0.280</a:t>
            </a:r>
            <a:endParaRPr lang="en-US" sz="856" dirty="0"/>
          </a:p>
        </p:txBody>
      </p:sp>
      <p:sp>
        <p:nvSpPr>
          <p:cNvPr id="13" name="Text 10"/>
          <p:cNvSpPr/>
          <p:nvPr/>
        </p:nvSpPr>
        <p:spPr>
          <a:xfrm>
            <a:off x="5006452" y="2759843"/>
            <a:ext cx="1408065" cy="344194"/>
          </a:xfrm>
          <a:prstGeom prst="rect">
            <a:avLst/>
          </a:prstGeom>
          <a:solidFill>
            <a:srgbClr val="F2F3F5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r>
              <a:rPr lang="en-US" sz="856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856" dirty="0"/>
          </a:p>
        </p:txBody>
      </p:sp>
      <p:sp>
        <p:nvSpPr>
          <p:cNvPr id="14" name="Text 11"/>
          <p:cNvSpPr/>
          <p:nvPr/>
        </p:nvSpPr>
        <p:spPr>
          <a:xfrm>
            <a:off x="6414517" y="2759843"/>
            <a:ext cx="1173387" cy="344194"/>
          </a:xfrm>
          <a:prstGeom prst="rect">
            <a:avLst/>
          </a:prstGeom>
          <a:solidFill>
            <a:srgbClr val="F2F3F5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algn="ctr"/>
            <a:r>
              <a:rPr lang="en-US" sz="856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0.334</a:t>
            </a:r>
            <a:endParaRPr lang="en-US" sz="856" dirty="0"/>
          </a:p>
        </p:txBody>
      </p:sp>
      <p:sp>
        <p:nvSpPr>
          <p:cNvPr id="15" name="Text 12"/>
          <p:cNvSpPr/>
          <p:nvPr/>
        </p:nvSpPr>
        <p:spPr>
          <a:xfrm>
            <a:off x="7587904" y="2759843"/>
            <a:ext cx="1173387" cy="344194"/>
          </a:xfrm>
          <a:prstGeom prst="rect">
            <a:avLst/>
          </a:prstGeom>
          <a:solidFill>
            <a:srgbClr val="F2F3F5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algn="ctr"/>
            <a:r>
              <a:rPr lang="en-US" sz="856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0.380</a:t>
            </a:r>
            <a:endParaRPr lang="en-US" sz="856" dirty="0"/>
          </a:p>
        </p:txBody>
      </p:sp>
      <p:sp>
        <p:nvSpPr>
          <p:cNvPr id="16" name="Text 13"/>
          <p:cNvSpPr/>
          <p:nvPr/>
        </p:nvSpPr>
        <p:spPr>
          <a:xfrm>
            <a:off x="5006452" y="3104037"/>
            <a:ext cx="1408065" cy="344194"/>
          </a:xfrm>
          <a:prstGeom prst="rect">
            <a:avLst/>
          </a:prstGeom>
          <a:solidFill>
            <a:srgbClr val="DCE9F8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r>
              <a:rPr lang="en-US" sz="856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endParaRPr lang="en-US" sz="856" dirty="0"/>
          </a:p>
        </p:txBody>
      </p:sp>
      <p:sp>
        <p:nvSpPr>
          <p:cNvPr id="17" name="Text 14"/>
          <p:cNvSpPr/>
          <p:nvPr/>
        </p:nvSpPr>
        <p:spPr>
          <a:xfrm>
            <a:off x="6414517" y="3104037"/>
            <a:ext cx="1173387" cy="344194"/>
          </a:xfrm>
          <a:prstGeom prst="rect">
            <a:avLst/>
          </a:prstGeom>
          <a:solidFill>
            <a:srgbClr val="DCE9F8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algn="ctr"/>
            <a:r>
              <a:rPr lang="en-US" sz="856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0.492</a:t>
            </a:r>
            <a:endParaRPr lang="en-US" sz="856" dirty="0"/>
          </a:p>
        </p:txBody>
      </p:sp>
      <p:sp>
        <p:nvSpPr>
          <p:cNvPr id="18" name="Text 15"/>
          <p:cNvSpPr/>
          <p:nvPr/>
        </p:nvSpPr>
        <p:spPr>
          <a:xfrm>
            <a:off x="7587904" y="3104037"/>
            <a:ext cx="1173387" cy="344194"/>
          </a:xfrm>
          <a:prstGeom prst="rect">
            <a:avLst/>
          </a:prstGeom>
          <a:solidFill>
            <a:srgbClr val="DCE9F8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algn="ctr"/>
            <a:r>
              <a:rPr lang="en-US" sz="856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0.673</a:t>
            </a:r>
            <a:endParaRPr lang="en-US" sz="856" dirty="0"/>
          </a:p>
        </p:txBody>
      </p:sp>
      <p:sp>
        <p:nvSpPr>
          <p:cNvPr id="19" name="Text 16"/>
          <p:cNvSpPr/>
          <p:nvPr/>
        </p:nvSpPr>
        <p:spPr>
          <a:xfrm>
            <a:off x="5006452" y="3714198"/>
            <a:ext cx="3653145" cy="2346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41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검정 (대응표본 Wilcoxon, n=20)</a:t>
            </a:r>
            <a:endParaRPr lang="en-US" sz="941" dirty="0"/>
          </a:p>
        </p:txBody>
      </p:sp>
      <p:sp>
        <p:nvSpPr>
          <p:cNvPr id="20" name="Text 17"/>
          <p:cNvSpPr/>
          <p:nvPr/>
        </p:nvSpPr>
        <p:spPr>
          <a:xfrm>
            <a:off x="5006452" y="3987989"/>
            <a:ext cx="3653145" cy="860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454"/>
              </a:lnSpc>
            </a:pPr>
            <a:r>
              <a:rPr lang="en-US" sz="94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벡터 &gt; 이미지 : p&lt;0.001</a:t>
            </a:r>
            <a:endParaRPr lang="en-US" sz="941" dirty="0"/>
          </a:p>
          <a:p>
            <a:pPr>
              <a:lnSpc>
                <a:spcPts val="1454"/>
              </a:lnSpc>
            </a:pPr>
            <a:r>
              <a:rPr lang="en-US" sz="94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벡터 &gt; 텍스트 : p&lt;0.001</a:t>
            </a:r>
            <a:endParaRPr lang="en-US" sz="941" dirty="0"/>
          </a:p>
          <a:p>
            <a:pPr>
              <a:lnSpc>
                <a:spcPts val="1454"/>
              </a:lnSpc>
            </a:pPr>
            <a:r>
              <a:rPr lang="en-US" sz="94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이미지 &gt; 텍스트 : p&lt;0.05</a:t>
            </a:r>
            <a:endParaRPr lang="en-US" sz="941" dirty="0"/>
          </a:p>
        </p:txBody>
      </p:sp>
      <p:sp>
        <p:nvSpPr>
          <p:cNvPr id="21" name="Shape 18"/>
          <p:cNvSpPr/>
          <p:nvPr/>
        </p:nvSpPr>
        <p:spPr>
          <a:xfrm>
            <a:off x="5006452" y="4926698"/>
            <a:ext cx="3653145" cy="1016936"/>
          </a:xfrm>
          <a:prstGeom prst="roundRect">
            <a:avLst>
              <a:gd name="adj" fmla="val 6154"/>
            </a:avLst>
          </a:prstGeom>
          <a:solidFill>
            <a:srgbClr val="1667C8"/>
          </a:solidFill>
          <a:ln/>
        </p:spPr>
        <p:txBody>
          <a:bodyPr/>
          <a:lstStyle/>
          <a:p>
            <a:endParaRPr lang="ko-KR" altLang="en-US" sz="1540"/>
          </a:p>
        </p:txBody>
      </p:sp>
      <p:sp>
        <p:nvSpPr>
          <p:cNvPr id="22" name="Text 19"/>
          <p:cNvSpPr/>
          <p:nvPr/>
        </p:nvSpPr>
        <p:spPr>
          <a:xfrm>
            <a:off x="5241129" y="5036215"/>
            <a:ext cx="3183791" cy="2346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4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941" dirty="0"/>
          </a:p>
        </p:txBody>
      </p:sp>
      <p:sp>
        <p:nvSpPr>
          <p:cNvPr id="23" name="Text 20"/>
          <p:cNvSpPr/>
          <p:nvPr/>
        </p:nvSpPr>
        <p:spPr>
          <a:xfrm>
            <a:off x="5241129" y="5302182"/>
            <a:ext cx="3183791" cy="547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283"/>
              </a:lnSpc>
            </a:pPr>
            <a:r>
              <a:rPr lang="en-US" sz="898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모델 모두 텍스트 &lt; 이미지 &lt; 벡터. 벡터 우위는 통계적으로 유의(p&lt;0.001).</a:t>
            </a:r>
            <a:endParaRPr lang="en-US" sz="898" dirty="0"/>
          </a:p>
        </p:txBody>
      </p:sp>
      <p:sp>
        <p:nvSpPr>
          <p:cNvPr id="24" name="Text 21"/>
          <p:cNvSpPr/>
          <p:nvPr/>
        </p:nvSpPr>
        <p:spPr>
          <a:xfrm>
            <a:off x="8440565" y="6272183"/>
            <a:ext cx="391129" cy="2346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770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7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 표 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요구조건 만족률 — 구조 피처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828800"/>
          <a:ext cx="47548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2194560"/>
            <a:ext cx="3200400" cy="2468880"/>
          </a:xfrm>
          <a:prstGeom prst="roundRect">
            <a:avLst>
              <a:gd name="adj" fmla="val 1852"/>
            </a:avLst>
          </a:prstGeom>
          <a:solidFill>
            <a:srgbClr val="E8F0FB"/>
          </a:solidFill>
          <a:ln w="1270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669280" y="23042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0" y="2578608"/>
            <a:ext cx="2834640" cy="1993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텍스트가 최저. pro가 텍스트를 38→70%로 크게 끌어올림. 벡터가 87%로 최고.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(구멍 검사 R3는 신뢰도 문제로 점수 제외)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BDCBD16-329F-32EB-65DC-E348FBCC4E79}"/>
              </a:ext>
            </a:extLst>
          </p:cNvPr>
          <p:cNvGrpSpPr/>
          <p:nvPr/>
        </p:nvGrpSpPr>
        <p:grpSpPr>
          <a:xfrm>
            <a:off x="4681728" y="5255393"/>
            <a:ext cx="4005072" cy="1053966"/>
            <a:chOff x="566928" y="3200400"/>
            <a:chExt cx="6949440" cy="1828800"/>
          </a:xfrm>
        </p:grpSpPr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73A53BD9-73A4-0FB4-2ACC-BBB6AE2130B6}"/>
                </a:ext>
              </a:extLst>
            </p:cNvPr>
            <p:cNvSpPr/>
            <p:nvPr/>
          </p:nvSpPr>
          <p:spPr>
            <a:xfrm>
              <a:off x="566928" y="3200400"/>
              <a:ext cx="2194560" cy="457200"/>
            </a:xfrm>
            <a:prstGeom prst="rect">
              <a:avLst/>
            </a:prstGeom>
            <a:solidFill>
              <a:srgbClr val="1667C8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모달리티</a:t>
              </a:r>
              <a:endParaRPr lang="en-US" sz="1200" dirty="0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17E4F34E-BBC4-A8CE-FD7E-400B911E16A7}"/>
                </a:ext>
              </a:extLst>
            </p:cNvPr>
            <p:cNvSpPr/>
            <p:nvPr/>
          </p:nvSpPr>
          <p:spPr>
            <a:xfrm>
              <a:off x="2761488" y="3200400"/>
              <a:ext cx="2377440" cy="457200"/>
            </a:xfrm>
            <a:prstGeom prst="rect">
              <a:avLst/>
            </a:prstGeom>
            <a:solidFill>
              <a:srgbClr val="1667C8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gemini-2.5-flash</a:t>
              </a:r>
              <a:endParaRPr lang="en-US" sz="1200" dirty="0"/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56264B70-7138-83F7-2F59-B24710CA4A10}"/>
                </a:ext>
              </a:extLst>
            </p:cNvPr>
            <p:cNvSpPr/>
            <p:nvPr/>
          </p:nvSpPr>
          <p:spPr>
            <a:xfrm>
              <a:off x="5138928" y="3200400"/>
              <a:ext cx="2377440" cy="457200"/>
            </a:xfrm>
            <a:prstGeom prst="rect">
              <a:avLst/>
            </a:prstGeom>
            <a:solidFill>
              <a:srgbClr val="1667C8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gemini-3.1-pro</a:t>
              </a:r>
              <a:endParaRPr lang="en-US" sz="1200" dirty="0"/>
            </a:p>
          </p:txBody>
        </p:sp>
        <p:sp>
          <p:nvSpPr>
            <p:cNvPr id="14" name="Text 10">
              <a:extLst>
                <a:ext uri="{FF2B5EF4-FFF2-40B4-BE49-F238E27FC236}">
                  <a16:creationId xmlns:a16="http://schemas.microsoft.com/office/drawing/2014/main" id="{7699E8EC-F689-54B5-19E0-DF54ACD86762}"/>
                </a:ext>
              </a:extLst>
            </p:cNvPr>
            <p:cNvSpPr/>
            <p:nvPr/>
          </p:nvSpPr>
          <p:spPr>
            <a:xfrm>
              <a:off x="566928" y="3657600"/>
              <a:ext cx="219456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텍스트</a:t>
              </a:r>
              <a:endParaRPr lang="en-US" sz="1200" dirty="0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AD517E52-408A-34EC-42C1-C0390C9A9899}"/>
                </a:ext>
              </a:extLst>
            </p:cNvPr>
            <p:cNvSpPr/>
            <p:nvPr/>
          </p:nvSpPr>
          <p:spPr>
            <a:xfrm>
              <a:off x="2761488" y="3657600"/>
              <a:ext cx="237744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38%</a:t>
              </a:r>
              <a:endParaRPr lang="en-US" sz="1200" dirty="0"/>
            </a:p>
          </p:txBody>
        </p:sp>
        <p:sp>
          <p:nvSpPr>
            <p:cNvPr id="16" name="Text 12">
              <a:extLst>
                <a:ext uri="{FF2B5EF4-FFF2-40B4-BE49-F238E27FC236}">
                  <a16:creationId xmlns:a16="http://schemas.microsoft.com/office/drawing/2014/main" id="{EBAD23C3-17EF-5A71-EA6D-D196C6B7CE7E}"/>
                </a:ext>
              </a:extLst>
            </p:cNvPr>
            <p:cNvSpPr/>
            <p:nvPr/>
          </p:nvSpPr>
          <p:spPr>
            <a:xfrm>
              <a:off x="5138928" y="3657600"/>
              <a:ext cx="237744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70%</a:t>
              </a:r>
              <a:endParaRPr lang="en-US" sz="1200" dirty="0"/>
            </a:p>
          </p:txBody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935EEDF6-2219-CF6D-52A1-34267E101629}"/>
                </a:ext>
              </a:extLst>
            </p:cNvPr>
            <p:cNvSpPr/>
            <p:nvPr/>
          </p:nvSpPr>
          <p:spPr>
            <a:xfrm>
              <a:off x="566928" y="4114800"/>
              <a:ext cx="2194560" cy="457200"/>
            </a:xfrm>
            <a:prstGeom prst="rect">
              <a:avLst/>
            </a:prstGeom>
            <a:solidFill>
              <a:srgbClr val="F2F3F5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이미지</a:t>
              </a:r>
              <a:endParaRPr lang="en-US" sz="1200" dirty="0"/>
            </a:p>
          </p:txBody>
        </p:sp>
        <p:sp>
          <p:nvSpPr>
            <p:cNvPr id="18" name="Text 14">
              <a:extLst>
                <a:ext uri="{FF2B5EF4-FFF2-40B4-BE49-F238E27FC236}">
                  <a16:creationId xmlns:a16="http://schemas.microsoft.com/office/drawing/2014/main" id="{4FEFE862-DBB2-2B55-93DE-517EE5A55698}"/>
                </a:ext>
              </a:extLst>
            </p:cNvPr>
            <p:cNvSpPr/>
            <p:nvPr/>
          </p:nvSpPr>
          <p:spPr>
            <a:xfrm>
              <a:off x="2761488" y="4114800"/>
              <a:ext cx="2377440" cy="457200"/>
            </a:xfrm>
            <a:prstGeom prst="rect">
              <a:avLst/>
            </a:prstGeom>
            <a:solidFill>
              <a:srgbClr val="F2F3F5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73%</a:t>
              </a:r>
              <a:endParaRPr lang="en-US" sz="1200" dirty="0"/>
            </a:p>
          </p:txBody>
        </p:sp>
        <p:sp>
          <p:nvSpPr>
            <p:cNvPr id="19" name="Text 15">
              <a:extLst>
                <a:ext uri="{FF2B5EF4-FFF2-40B4-BE49-F238E27FC236}">
                  <a16:creationId xmlns:a16="http://schemas.microsoft.com/office/drawing/2014/main" id="{800356E0-E525-61D8-4EE0-ADD827D19185}"/>
                </a:ext>
              </a:extLst>
            </p:cNvPr>
            <p:cNvSpPr/>
            <p:nvPr/>
          </p:nvSpPr>
          <p:spPr>
            <a:xfrm>
              <a:off x="5138928" y="4114800"/>
              <a:ext cx="2377440" cy="457200"/>
            </a:xfrm>
            <a:prstGeom prst="rect">
              <a:avLst/>
            </a:prstGeom>
            <a:solidFill>
              <a:srgbClr val="F2F3F5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72%</a:t>
              </a:r>
              <a:endParaRPr lang="en-US" sz="1200" dirty="0"/>
            </a:p>
          </p:txBody>
        </p:sp>
        <p:sp>
          <p:nvSpPr>
            <p:cNvPr id="20" name="Text 16">
              <a:extLst>
                <a:ext uri="{FF2B5EF4-FFF2-40B4-BE49-F238E27FC236}">
                  <a16:creationId xmlns:a16="http://schemas.microsoft.com/office/drawing/2014/main" id="{C4551534-F649-B013-AAA5-50EB02351663}"/>
                </a:ext>
              </a:extLst>
            </p:cNvPr>
            <p:cNvSpPr/>
            <p:nvPr/>
          </p:nvSpPr>
          <p:spPr>
            <a:xfrm>
              <a:off x="566928" y="4572000"/>
              <a:ext cx="2194560" cy="457200"/>
            </a:xfrm>
            <a:prstGeom prst="rect">
              <a:avLst/>
            </a:prstGeom>
            <a:solidFill>
              <a:srgbClr val="DCE9F8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벡터</a:t>
              </a:r>
              <a:endParaRPr lang="en-US" sz="1200" dirty="0"/>
            </a:p>
          </p:txBody>
        </p:sp>
        <p:sp>
          <p:nvSpPr>
            <p:cNvPr id="21" name="Text 17">
              <a:extLst>
                <a:ext uri="{FF2B5EF4-FFF2-40B4-BE49-F238E27FC236}">
                  <a16:creationId xmlns:a16="http://schemas.microsoft.com/office/drawing/2014/main" id="{4681BD6E-14B6-00B5-289A-09EAD3C7FB8D}"/>
                </a:ext>
              </a:extLst>
            </p:cNvPr>
            <p:cNvSpPr/>
            <p:nvPr/>
          </p:nvSpPr>
          <p:spPr>
            <a:xfrm>
              <a:off x="2761488" y="4572000"/>
              <a:ext cx="2377440" cy="457200"/>
            </a:xfrm>
            <a:prstGeom prst="rect">
              <a:avLst/>
            </a:prstGeom>
            <a:solidFill>
              <a:srgbClr val="DCE9F8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73%</a:t>
              </a:r>
              <a:endParaRPr lang="en-US" sz="1200" dirty="0"/>
            </a:p>
          </p:txBody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1CC73A14-6A65-DEF3-0A55-1AA3980160AB}"/>
                </a:ext>
              </a:extLst>
            </p:cNvPr>
            <p:cNvSpPr/>
            <p:nvPr/>
          </p:nvSpPr>
          <p:spPr>
            <a:xfrm>
              <a:off x="5138928" y="4572000"/>
              <a:ext cx="2377440" cy="457200"/>
            </a:xfrm>
            <a:prstGeom prst="rect">
              <a:avLst/>
            </a:prstGeom>
            <a:solidFill>
              <a:srgbClr val="DCE9F8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87%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 표 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심판 — 세부 피처 완성도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828800"/>
          <a:ext cx="47548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2194560"/>
            <a:ext cx="3200400" cy="2468880"/>
          </a:xfrm>
          <a:prstGeom prst="roundRect">
            <a:avLst>
              <a:gd name="adj" fmla="val 1852"/>
            </a:avLst>
          </a:prstGeom>
          <a:solidFill>
            <a:srgbClr val="E8F0FB"/>
          </a:solidFill>
          <a:ln w="1270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669280" y="23042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0" y="2578608"/>
            <a:ext cx="2834640" cy="1993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벡터가 두 모델 모두 최고(pro 78.8%). 기하 지표가 놓치는 창문·구멍 수 같은 세부까지 반영.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생성과 독립된 판정자로 교차평가.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 표  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심판 — 세부 피처를 잡는 보완책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도입? 아래 사례가 이유다. 기하 지표가 만점을 줬는데 정작 핵심 특징이 빠졌다.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GT (창문 4개 · 내부 벽)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8404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Users/jang-young-a/Desktop/test_cad/eval/results/_judge_renders/gt_0000257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2331720"/>
            <a:ext cx="3657600" cy="2057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5488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생성물 (창문·벽 없음)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2286000"/>
            <a:ext cx="38404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/Users/jang-young-a/Desktop/test_cad/eval/results/_judge_renders/paid_vector_0000257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2331720"/>
            <a:ext cx="3657600" cy="20574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4617720"/>
            <a:ext cx="5212080" cy="1234440"/>
          </a:xfrm>
          <a:prstGeom prst="roundRect">
            <a:avLst>
              <a:gd name="adj" fmla="val 3704"/>
            </a:avLst>
          </a:prstGeom>
          <a:solidFill>
            <a:srgbClr val="E8F0FB"/>
          </a:solidFill>
          <a:ln w="1270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640080" y="47274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0080" y="5020056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 0.937 · 요구조건 100% → 그런데 창문·내부 벽이 통째로 없음. 큰 박스만 맞아 두 지표가 못 잡았다.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806440" y="4617720"/>
            <a:ext cx="2880360" cy="1234440"/>
          </a:xfrm>
          <a:prstGeom prst="roundRect">
            <a:avLst>
              <a:gd name="adj" fmla="val 4444"/>
            </a:avLst>
          </a:prstGeom>
          <a:solidFill>
            <a:srgbClr val="E8F0FB"/>
          </a:solidFill>
          <a:ln w="1270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6007608" y="4764024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해결?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007608" y="5184648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GT·생성물을 여러 각도로 렌더 → 독립 VLM이 “창문 있나?”를 피처별 판정. VLM 특징 33%로 강등.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2D26A35-D723-9155-450A-9829B11D4E65}"/>
              </a:ext>
            </a:extLst>
          </p:cNvPr>
          <p:cNvGrpSpPr/>
          <p:nvPr/>
        </p:nvGrpSpPr>
        <p:grpSpPr>
          <a:xfrm>
            <a:off x="5486400" y="192383"/>
            <a:ext cx="3566160" cy="1106064"/>
            <a:chOff x="7790688" y="2148840"/>
            <a:chExt cx="3566160" cy="1463040"/>
          </a:xfrm>
        </p:grpSpPr>
        <p:sp>
          <p:nvSpPr>
            <p:cNvPr id="20" name="Text 9">
              <a:extLst>
                <a:ext uri="{FF2B5EF4-FFF2-40B4-BE49-F238E27FC236}">
                  <a16:creationId xmlns:a16="http://schemas.microsoft.com/office/drawing/2014/main" id="{E583F82E-F826-E651-F1EA-92BB817A8BC4}"/>
                </a:ext>
              </a:extLst>
            </p:cNvPr>
            <p:cNvSpPr/>
            <p:nvPr/>
          </p:nvSpPr>
          <p:spPr>
            <a:xfrm>
              <a:off x="7790688" y="2148840"/>
              <a:ext cx="1280160" cy="365760"/>
            </a:xfrm>
            <a:prstGeom prst="rect">
              <a:avLst/>
            </a:prstGeom>
            <a:solidFill>
              <a:srgbClr val="1667C8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특징</a:t>
              </a:r>
              <a:endParaRPr lang="en-US" sz="1000" dirty="0"/>
            </a:p>
          </p:txBody>
        </p:sp>
        <p:sp>
          <p:nvSpPr>
            <p:cNvPr id="21" name="Text 10">
              <a:extLst>
                <a:ext uri="{FF2B5EF4-FFF2-40B4-BE49-F238E27FC236}">
                  <a16:creationId xmlns:a16="http://schemas.microsoft.com/office/drawing/2014/main" id="{E8813EB0-5608-9B6C-42D9-74A0411A88F7}"/>
                </a:ext>
              </a:extLst>
            </p:cNvPr>
            <p:cNvSpPr/>
            <p:nvPr/>
          </p:nvSpPr>
          <p:spPr>
            <a:xfrm>
              <a:off x="9070848" y="2148840"/>
              <a:ext cx="640080" cy="365760"/>
            </a:xfrm>
            <a:prstGeom prst="rect">
              <a:avLst/>
            </a:prstGeom>
            <a:solidFill>
              <a:srgbClr val="1667C8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정답</a:t>
              </a:r>
              <a:endParaRPr lang="en-US" sz="1000" dirty="0"/>
            </a:p>
          </p:txBody>
        </p:sp>
        <p:sp>
          <p:nvSpPr>
            <p:cNvPr id="22" name="Text 11">
              <a:extLst>
                <a:ext uri="{FF2B5EF4-FFF2-40B4-BE49-F238E27FC236}">
                  <a16:creationId xmlns:a16="http://schemas.microsoft.com/office/drawing/2014/main" id="{1908B7B7-83F5-DB55-B9A4-4BA390A35B7E}"/>
                </a:ext>
              </a:extLst>
            </p:cNvPr>
            <p:cNvSpPr/>
            <p:nvPr/>
          </p:nvSpPr>
          <p:spPr>
            <a:xfrm>
              <a:off x="9710928" y="2148840"/>
              <a:ext cx="777240" cy="365760"/>
            </a:xfrm>
            <a:prstGeom prst="rect">
              <a:avLst/>
            </a:prstGeom>
            <a:solidFill>
              <a:srgbClr val="1667C8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생성물</a:t>
              </a:r>
              <a:endParaRPr lang="en-US" sz="1000" dirty="0"/>
            </a:p>
          </p:txBody>
        </p:sp>
        <p:sp>
          <p:nvSpPr>
            <p:cNvPr id="23" name="Text 12">
              <a:extLst>
                <a:ext uri="{FF2B5EF4-FFF2-40B4-BE49-F238E27FC236}">
                  <a16:creationId xmlns:a16="http://schemas.microsoft.com/office/drawing/2014/main" id="{052A3AF2-09B1-8296-6969-AE9610DFE621}"/>
                </a:ext>
              </a:extLst>
            </p:cNvPr>
            <p:cNvSpPr/>
            <p:nvPr/>
          </p:nvSpPr>
          <p:spPr>
            <a:xfrm>
              <a:off x="10488168" y="2148840"/>
              <a:ext cx="868680" cy="365760"/>
            </a:xfrm>
            <a:prstGeom prst="rect">
              <a:avLst/>
            </a:prstGeom>
            <a:solidFill>
              <a:srgbClr val="1667C8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판정</a:t>
              </a:r>
              <a:endParaRPr lang="en-US" sz="1000" dirty="0"/>
            </a:p>
          </p:txBody>
        </p:sp>
        <p:sp>
          <p:nvSpPr>
            <p:cNvPr id="24" name="Text 13">
              <a:extLst>
                <a:ext uri="{FF2B5EF4-FFF2-40B4-BE49-F238E27FC236}">
                  <a16:creationId xmlns:a16="http://schemas.microsoft.com/office/drawing/2014/main" id="{346890A7-C9D2-552F-B37F-0ACDD5E2A75B}"/>
                </a:ext>
              </a:extLst>
            </p:cNvPr>
            <p:cNvSpPr/>
            <p:nvPr/>
          </p:nvSpPr>
          <p:spPr>
            <a:xfrm>
              <a:off x="7790688" y="2514600"/>
              <a:ext cx="128016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박스 외형</a:t>
              </a:r>
              <a:endParaRPr lang="en-US" sz="1000" dirty="0"/>
            </a:p>
          </p:txBody>
        </p:sp>
        <p:sp>
          <p:nvSpPr>
            <p:cNvPr id="25" name="Text 14">
              <a:extLst>
                <a:ext uri="{FF2B5EF4-FFF2-40B4-BE49-F238E27FC236}">
                  <a16:creationId xmlns:a16="http://schemas.microsoft.com/office/drawing/2014/main" id="{25DB84FA-EB82-C1E8-8917-772A66468323}"/>
                </a:ext>
              </a:extLst>
            </p:cNvPr>
            <p:cNvSpPr/>
            <p:nvPr/>
          </p:nvSpPr>
          <p:spPr>
            <a:xfrm>
              <a:off x="9070848" y="2514600"/>
              <a:ext cx="64008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O</a:t>
              </a:r>
              <a:endParaRPr lang="en-US" sz="1000" dirty="0"/>
            </a:p>
          </p:txBody>
        </p:sp>
        <p:sp>
          <p:nvSpPr>
            <p:cNvPr id="26" name="Text 15">
              <a:extLst>
                <a:ext uri="{FF2B5EF4-FFF2-40B4-BE49-F238E27FC236}">
                  <a16:creationId xmlns:a16="http://schemas.microsoft.com/office/drawing/2014/main" id="{C43C1CCC-409F-ABFE-257A-31CB5D4DB9AD}"/>
                </a:ext>
              </a:extLst>
            </p:cNvPr>
            <p:cNvSpPr/>
            <p:nvPr/>
          </p:nvSpPr>
          <p:spPr>
            <a:xfrm>
              <a:off x="9710928" y="2514600"/>
              <a:ext cx="77724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O</a:t>
              </a:r>
              <a:endParaRPr lang="en-US" sz="1000" dirty="0"/>
            </a:p>
          </p:txBody>
        </p:sp>
        <p:sp>
          <p:nvSpPr>
            <p:cNvPr id="27" name="Text 16">
              <a:extLst>
                <a:ext uri="{FF2B5EF4-FFF2-40B4-BE49-F238E27FC236}">
                  <a16:creationId xmlns:a16="http://schemas.microsoft.com/office/drawing/2014/main" id="{A0B1A69F-875E-48BC-4477-70398E33560D}"/>
                </a:ext>
              </a:extLst>
            </p:cNvPr>
            <p:cNvSpPr/>
            <p:nvPr/>
          </p:nvSpPr>
          <p:spPr>
            <a:xfrm>
              <a:off x="10488168" y="2514600"/>
              <a:ext cx="86868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있음</a:t>
              </a:r>
              <a:endParaRPr lang="en-US" sz="1000" dirty="0"/>
            </a:p>
          </p:txBody>
        </p:sp>
        <p:sp>
          <p:nvSpPr>
            <p:cNvPr id="28" name="Text 17">
              <a:extLst>
                <a:ext uri="{FF2B5EF4-FFF2-40B4-BE49-F238E27FC236}">
                  <a16:creationId xmlns:a16="http://schemas.microsoft.com/office/drawing/2014/main" id="{57688A2C-7493-5149-A88F-3173E5A9B783}"/>
                </a:ext>
              </a:extLst>
            </p:cNvPr>
            <p:cNvSpPr/>
            <p:nvPr/>
          </p:nvSpPr>
          <p:spPr>
            <a:xfrm>
              <a:off x="7790688" y="2880360"/>
              <a:ext cx="1280160" cy="365760"/>
            </a:xfrm>
            <a:prstGeom prst="rect">
              <a:avLst/>
            </a:prstGeom>
            <a:solidFill>
              <a:srgbClr val="F2F3F5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창문 4개</a:t>
              </a:r>
              <a:endParaRPr lang="en-US" sz="1000" dirty="0"/>
            </a:p>
          </p:txBody>
        </p:sp>
        <p:sp>
          <p:nvSpPr>
            <p:cNvPr id="29" name="Text 18">
              <a:extLst>
                <a:ext uri="{FF2B5EF4-FFF2-40B4-BE49-F238E27FC236}">
                  <a16:creationId xmlns:a16="http://schemas.microsoft.com/office/drawing/2014/main" id="{3F69F08A-99B9-9167-BBEB-94A759DD5773}"/>
                </a:ext>
              </a:extLst>
            </p:cNvPr>
            <p:cNvSpPr/>
            <p:nvPr/>
          </p:nvSpPr>
          <p:spPr>
            <a:xfrm>
              <a:off x="9070848" y="2880360"/>
              <a:ext cx="640080" cy="365760"/>
            </a:xfrm>
            <a:prstGeom prst="rect">
              <a:avLst/>
            </a:prstGeom>
            <a:solidFill>
              <a:srgbClr val="F2F3F5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O</a:t>
              </a:r>
              <a:endParaRPr lang="en-US" sz="1000" dirty="0"/>
            </a:p>
          </p:txBody>
        </p:sp>
        <p:sp>
          <p:nvSpPr>
            <p:cNvPr id="30" name="Text 19">
              <a:extLst>
                <a:ext uri="{FF2B5EF4-FFF2-40B4-BE49-F238E27FC236}">
                  <a16:creationId xmlns:a16="http://schemas.microsoft.com/office/drawing/2014/main" id="{58E9AF00-2E50-625F-88E1-DD3945C41400}"/>
                </a:ext>
              </a:extLst>
            </p:cNvPr>
            <p:cNvSpPr/>
            <p:nvPr/>
          </p:nvSpPr>
          <p:spPr>
            <a:xfrm>
              <a:off x="9710928" y="2880360"/>
              <a:ext cx="777240" cy="365760"/>
            </a:xfrm>
            <a:prstGeom prst="rect">
              <a:avLst/>
            </a:prstGeom>
            <a:solidFill>
              <a:srgbClr val="F2F3F5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X</a:t>
              </a:r>
              <a:endParaRPr lang="en-US" sz="1000" dirty="0"/>
            </a:p>
          </p:txBody>
        </p:sp>
        <p:sp>
          <p:nvSpPr>
            <p:cNvPr id="31" name="Text 20">
              <a:extLst>
                <a:ext uri="{FF2B5EF4-FFF2-40B4-BE49-F238E27FC236}">
                  <a16:creationId xmlns:a16="http://schemas.microsoft.com/office/drawing/2014/main" id="{DBDCB3FE-4A2F-6002-4706-4BD36281A3BC}"/>
                </a:ext>
              </a:extLst>
            </p:cNvPr>
            <p:cNvSpPr/>
            <p:nvPr/>
          </p:nvSpPr>
          <p:spPr>
            <a:xfrm>
              <a:off x="10488168" y="2880360"/>
              <a:ext cx="868680" cy="365760"/>
            </a:xfrm>
            <a:prstGeom prst="rect">
              <a:avLst/>
            </a:prstGeom>
            <a:solidFill>
              <a:srgbClr val="F2F3F5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없음</a:t>
              </a:r>
              <a:endParaRPr lang="en-US" sz="1000" dirty="0"/>
            </a:p>
          </p:txBody>
        </p:sp>
        <p:sp>
          <p:nvSpPr>
            <p:cNvPr id="32" name="Text 21">
              <a:extLst>
                <a:ext uri="{FF2B5EF4-FFF2-40B4-BE49-F238E27FC236}">
                  <a16:creationId xmlns:a16="http://schemas.microsoft.com/office/drawing/2014/main" id="{04DBA08D-2806-9D7B-84E9-6AD2C29DAC45}"/>
                </a:ext>
              </a:extLst>
            </p:cNvPr>
            <p:cNvSpPr/>
            <p:nvPr/>
          </p:nvSpPr>
          <p:spPr>
            <a:xfrm>
              <a:off x="7790688" y="3246120"/>
              <a:ext cx="128016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내부 벽</a:t>
              </a:r>
              <a:endParaRPr lang="en-US" sz="1000" dirty="0"/>
            </a:p>
          </p:txBody>
        </p:sp>
        <p:sp>
          <p:nvSpPr>
            <p:cNvPr id="33" name="Text 22">
              <a:extLst>
                <a:ext uri="{FF2B5EF4-FFF2-40B4-BE49-F238E27FC236}">
                  <a16:creationId xmlns:a16="http://schemas.microsoft.com/office/drawing/2014/main" id="{47114705-7C63-058C-2DEE-48F9555E0095}"/>
                </a:ext>
              </a:extLst>
            </p:cNvPr>
            <p:cNvSpPr/>
            <p:nvPr/>
          </p:nvSpPr>
          <p:spPr>
            <a:xfrm>
              <a:off x="9070848" y="3246120"/>
              <a:ext cx="64008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O</a:t>
              </a:r>
              <a:endParaRPr lang="en-US" sz="1000" dirty="0"/>
            </a:p>
          </p:txBody>
        </p:sp>
        <p:sp>
          <p:nvSpPr>
            <p:cNvPr id="34" name="Text 23">
              <a:extLst>
                <a:ext uri="{FF2B5EF4-FFF2-40B4-BE49-F238E27FC236}">
                  <a16:creationId xmlns:a16="http://schemas.microsoft.com/office/drawing/2014/main" id="{BBAF1569-8613-535D-35C4-D0661A3220FC}"/>
                </a:ext>
              </a:extLst>
            </p:cNvPr>
            <p:cNvSpPr/>
            <p:nvPr/>
          </p:nvSpPr>
          <p:spPr>
            <a:xfrm>
              <a:off x="9710928" y="3246120"/>
              <a:ext cx="77724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X</a:t>
              </a:r>
              <a:endParaRPr lang="en-US" sz="1000" dirty="0"/>
            </a:p>
          </p:txBody>
        </p:sp>
        <p:sp>
          <p:nvSpPr>
            <p:cNvPr id="35" name="Text 24">
              <a:extLst>
                <a:ext uri="{FF2B5EF4-FFF2-40B4-BE49-F238E27FC236}">
                  <a16:creationId xmlns:a16="http://schemas.microsoft.com/office/drawing/2014/main" id="{010D2026-E181-3820-2281-0BB5A4D29D19}"/>
                </a:ext>
              </a:extLst>
            </p:cNvPr>
            <p:cNvSpPr/>
            <p:nvPr/>
          </p:nvSpPr>
          <p:spPr>
            <a:xfrm>
              <a:off x="10488168" y="3246120"/>
              <a:ext cx="86868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3E6EA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83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없음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 이 렇 게  나 왔 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— 벡터 &gt; 이미지 &gt; 텍스트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828800" cy="384048"/>
          </a:xfrm>
          <a:prstGeom prst="rect">
            <a:avLst/>
          </a:prstGeom>
          <a:solidFill>
            <a:srgbClr val="1C6FC9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모달리티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874520"/>
            <a:ext cx="1828800" cy="384048"/>
          </a:xfrm>
          <a:prstGeom prst="rect">
            <a:avLst/>
          </a:prstGeom>
          <a:solidFill>
            <a:srgbClr val="1C6FC9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IoU(pro)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1874520"/>
            <a:ext cx="2194560" cy="384048"/>
          </a:xfrm>
          <a:prstGeom prst="rect">
            <a:avLst/>
          </a:prstGeom>
          <a:solidFill>
            <a:srgbClr val="1C6FC9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요구조건(pro)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1874520"/>
            <a:ext cx="2194560" cy="384048"/>
          </a:xfrm>
          <a:prstGeom prst="rect">
            <a:avLst/>
          </a:prstGeom>
          <a:solidFill>
            <a:srgbClr val="1C6FC9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VLM특징(pro)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58568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258568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0.280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2258568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258568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51.6%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642616"/>
            <a:ext cx="1828800" cy="384048"/>
          </a:xfrm>
          <a:prstGeom prst="rect">
            <a:avLst/>
          </a:prstGeom>
          <a:solidFill>
            <a:srgbClr val="F4F5F7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642616"/>
            <a:ext cx="1828800" cy="384048"/>
          </a:xfrm>
          <a:prstGeom prst="rect">
            <a:avLst/>
          </a:prstGeom>
          <a:solidFill>
            <a:srgbClr val="F4F5F7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0.380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0" y="2642616"/>
            <a:ext cx="2194560" cy="384048"/>
          </a:xfrm>
          <a:prstGeom prst="rect">
            <a:avLst/>
          </a:prstGeom>
          <a:solidFill>
            <a:srgbClr val="F4F5F7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2642616"/>
            <a:ext cx="2194560" cy="384048"/>
          </a:xfrm>
          <a:prstGeom prst="rect">
            <a:avLst/>
          </a:prstGeom>
          <a:solidFill>
            <a:srgbClr val="F4F5F7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58.5%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026664"/>
            <a:ext cx="1828800" cy="384048"/>
          </a:xfrm>
          <a:prstGeom prst="rect">
            <a:avLst/>
          </a:prstGeom>
          <a:solidFill>
            <a:srgbClr val="E8F0FB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3026664"/>
            <a:ext cx="1828800" cy="384048"/>
          </a:xfrm>
          <a:prstGeom prst="rect">
            <a:avLst/>
          </a:prstGeom>
          <a:solidFill>
            <a:srgbClr val="E8F0FB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0.673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0" y="3026664"/>
            <a:ext cx="2194560" cy="384048"/>
          </a:xfrm>
          <a:prstGeom prst="rect">
            <a:avLst/>
          </a:prstGeom>
          <a:solidFill>
            <a:srgbClr val="E8F0FB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3026664"/>
            <a:ext cx="2194560" cy="384048"/>
          </a:xfrm>
          <a:prstGeom prst="rect">
            <a:avLst/>
          </a:prstGeom>
          <a:solidFill>
            <a:srgbClr val="E8F0FB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78.8%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703320"/>
            <a:ext cx="3931920" cy="1737360"/>
          </a:xfrm>
          <a:prstGeom prst="roundRect">
            <a:avLst>
              <a:gd name="adj" fmla="val 3158"/>
            </a:avLst>
          </a:prstGeom>
          <a:solidFill>
            <a:srgbClr val="E8F0FB"/>
          </a:solidFill>
          <a:ln w="1270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41248" y="3849624"/>
            <a:ext cx="3529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벡터가 최고?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" y="4270248"/>
            <a:ext cx="35295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정투영 도면은 치수·구멍·비율을 명시적으로 담아, 모델이 형상을 정확히 역산하기 쉽다. 텍스트는 정보가 성기고, 이미지는 1개 각도뿐.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3931920" cy="173736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956048" y="3849624"/>
            <a:ext cx="3529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세 지표가 일치?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56048" y="4270248"/>
            <a:ext cx="35295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원리가 다른 세 잣대가 같은 순서를 가리킴 → 결론이 우연이 아니라 견고하다는 뜻. 강한 모델일수록 시각·벡터를 더 잘 활용.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532120"/>
            <a:ext cx="7863840" cy="777240"/>
          </a:xfrm>
          <a:prstGeom prst="roundRect">
            <a:avLst>
              <a:gd name="adj" fmla="val 5882"/>
            </a:avLst>
          </a:prstGeom>
          <a:solidFill>
            <a:srgbClr val="E8F0FB"/>
          </a:solidFill>
          <a:ln w="1270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22960" y="564184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" y="593445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국기 선행연구의 “입력이 구조화될수록 정확”이 3D 기계 부품에서도 재현되었다.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 직 한  단 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앞으로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8046720" cy="960120"/>
          </a:xfrm>
          <a:prstGeom prst="roundRect">
            <a:avLst>
              <a:gd name="adj" fmla="val 476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76479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심판은 “예비값”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11880" y="1764792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키의 월 지출 상한 때문에, 심판을 현재는 사람이 대신 수행. 생성(Gemini)과 다른 판정자라 자기평가 편향은 없음(교차평가).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8046720" cy="960120"/>
          </a:xfrm>
          <a:prstGeom prst="roundRect">
            <a:avLst>
              <a:gd name="adj" fmla="val 476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286207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수작업이라 오독 가능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2862072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무료 벡터 2건(904·1496)을 잘못 높게 줬다가 정정. 큰 결론(벡터 우위)은 그대로.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8046720" cy="960120"/>
          </a:xfrm>
          <a:prstGeom prst="roundRect">
            <a:avLst>
              <a:gd name="adj" fmla="val 4762"/>
            </a:avLst>
          </a:prstGeom>
          <a:solidFill>
            <a:srgbClr val="E8F0FB"/>
          </a:solidFill>
          <a:ln w="1270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77240" y="395935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3959352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지출 상한이 풀리면 자동 VLM 심판(eval/judge_vlm.mjs)으로 120개를 일관되게 재채점 → 최종 확정.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937760"/>
            <a:ext cx="8046720" cy="960120"/>
          </a:xfrm>
          <a:prstGeom prst="roundRect">
            <a:avLst>
              <a:gd name="adj" fmla="val 4762"/>
            </a:avLst>
          </a:prstGeom>
          <a:solidFill>
            <a:srgbClr val="E8F0FB"/>
          </a:solidFill>
          <a:ln w="1270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77240" y="505663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계획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11880" y="5056632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seed로 통계적 유의성 확보 · hard 난이도 보강 · 추가 모델 재현.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4037"/>
            <a:ext cx="9144598" cy="93871"/>
          </a:xfrm>
          <a:prstGeom prst="rect">
            <a:avLst/>
          </a:prstGeom>
          <a:solidFill>
            <a:srgbClr val="1667C8"/>
          </a:solidFill>
          <a:ln/>
        </p:spPr>
        <p:txBody>
          <a:bodyPr/>
          <a:lstStyle/>
          <a:p>
            <a:endParaRPr lang="ko-KR" altLang="en-US" sz="1540"/>
          </a:p>
        </p:txBody>
      </p:sp>
      <p:sp>
        <p:nvSpPr>
          <p:cNvPr id="3" name="Text 1"/>
          <p:cNvSpPr/>
          <p:nvPr/>
        </p:nvSpPr>
        <p:spPr>
          <a:xfrm>
            <a:off x="485000" y="585166"/>
            <a:ext cx="5475807" cy="2346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70" kern="0" spc="171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 과  5  (핵 심)</a:t>
            </a:r>
            <a:endParaRPr lang="en-US" sz="770" dirty="0"/>
          </a:p>
        </p:txBody>
      </p:sp>
      <p:sp>
        <p:nvSpPr>
          <p:cNvPr id="4" name="Text 2"/>
          <p:cNvSpPr/>
          <p:nvPr/>
        </p:nvSpPr>
        <p:spPr>
          <a:xfrm>
            <a:off x="485000" y="835488"/>
            <a:ext cx="8174597" cy="547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53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혼동요인 분해 — 왜 벡터가 이기나</a:t>
            </a:r>
            <a:endParaRPr lang="en-US" sz="2053" dirty="0"/>
          </a:p>
        </p:txBody>
      </p:sp>
      <p:sp>
        <p:nvSpPr>
          <p:cNvPr id="5" name="Shape 3"/>
          <p:cNvSpPr/>
          <p:nvPr/>
        </p:nvSpPr>
        <p:spPr>
          <a:xfrm>
            <a:off x="485000" y="1461295"/>
            <a:ext cx="8174597" cy="9387"/>
          </a:xfrm>
          <a:prstGeom prst="rect">
            <a:avLst/>
          </a:prstGeom>
          <a:solidFill>
            <a:srgbClr val="E3E6EA"/>
          </a:solidFill>
          <a:ln/>
        </p:spPr>
        <p:txBody>
          <a:bodyPr/>
          <a:lstStyle/>
          <a:p>
            <a:endParaRPr lang="ko-KR" altLang="en-US" sz="1540"/>
          </a:p>
        </p:txBody>
      </p:sp>
      <p:sp>
        <p:nvSpPr>
          <p:cNvPr id="6" name="Shape 4"/>
          <p:cNvSpPr/>
          <p:nvPr/>
        </p:nvSpPr>
        <p:spPr>
          <a:xfrm>
            <a:off x="485000" y="1641214"/>
            <a:ext cx="8174597" cy="453710"/>
          </a:xfrm>
          <a:prstGeom prst="roundRect">
            <a:avLst>
              <a:gd name="adj" fmla="val 17241"/>
            </a:avLst>
          </a:prstGeom>
          <a:solidFill>
            <a:srgbClr val="1667C8"/>
          </a:solidFill>
          <a:ln/>
        </p:spPr>
        <p:txBody>
          <a:bodyPr/>
          <a:lstStyle/>
          <a:p>
            <a:endParaRPr lang="ko-KR" altLang="en-US" sz="1540"/>
          </a:p>
        </p:txBody>
      </p:sp>
      <p:sp>
        <p:nvSpPr>
          <p:cNvPr id="7" name="Text 5"/>
          <p:cNvSpPr/>
          <p:nvPr/>
        </p:nvSpPr>
        <p:spPr>
          <a:xfrm>
            <a:off x="719677" y="1641214"/>
            <a:ext cx="7705243" cy="453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: 벡터가 좋은 게 “모달리티”인가, 벡터에 실린 “정확한 좌표(텍스트)”인가?</a:t>
            </a:r>
            <a:endParaRPr lang="en-US" sz="1069" dirty="0"/>
          </a:p>
        </p:txBody>
      </p:sp>
      <p:sp>
        <p:nvSpPr>
          <p:cNvPr id="8" name="Text 6"/>
          <p:cNvSpPr/>
          <p:nvPr/>
        </p:nvSpPr>
        <p:spPr>
          <a:xfrm>
            <a:off x="485000" y="2306134"/>
            <a:ext cx="5475807" cy="2033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27" kern="0" spc="171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ABLATION LADDER (flash, 겹치는 유효 부품)</a:t>
            </a:r>
            <a:endParaRPr lang="en-US" sz="727" dirty="0"/>
          </a:p>
        </p:txBody>
      </p:sp>
      <p:sp>
        <p:nvSpPr>
          <p:cNvPr id="9" name="Text 7"/>
          <p:cNvSpPr/>
          <p:nvPr/>
        </p:nvSpPr>
        <p:spPr>
          <a:xfrm>
            <a:off x="485000" y="2579924"/>
            <a:ext cx="3676613" cy="391129"/>
          </a:xfrm>
          <a:prstGeom prst="rect">
            <a:avLst/>
          </a:prstGeom>
          <a:solidFill>
            <a:srgbClr val="1667C8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r>
              <a:rPr lang="en-US" sz="94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endParaRPr lang="en-US" sz="941" dirty="0"/>
          </a:p>
        </p:txBody>
      </p:sp>
      <p:sp>
        <p:nvSpPr>
          <p:cNvPr id="10" name="Text 8"/>
          <p:cNvSpPr/>
          <p:nvPr/>
        </p:nvSpPr>
        <p:spPr>
          <a:xfrm>
            <a:off x="4161613" y="2579924"/>
            <a:ext cx="1095161" cy="391129"/>
          </a:xfrm>
          <a:prstGeom prst="rect">
            <a:avLst/>
          </a:prstGeom>
          <a:solidFill>
            <a:srgbClr val="1667C8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algn="ctr"/>
            <a:r>
              <a:rPr lang="en-US" sz="94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IoU</a:t>
            </a:r>
            <a:endParaRPr lang="en-US" sz="941" dirty="0"/>
          </a:p>
        </p:txBody>
      </p:sp>
      <p:sp>
        <p:nvSpPr>
          <p:cNvPr id="11" name="Text 9"/>
          <p:cNvSpPr/>
          <p:nvPr/>
        </p:nvSpPr>
        <p:spPr>
          <a:xfrm>
            <a:off x="5256775" y="2579924"/>
            <a:ext cx="2346774" cy="391129"/>
          </a:xfrm>
          <a:prstGeom prst="rect">
            <a:avLst/>
          </a:prstGeom>
          <a:solidFill>
            <a:srgbClr val="1667C8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algn="ctr"/>
            <a:r>
              <a:rPr lang="en-US" sz="94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대비 / 유의성</a:t>
            </a:r>
            <a:endParaRPr lang="en-US" sz="941" dirty="0"/>
          </a:p>
        </p:txBody>
      </p:sp>
      <p:sp>
        <p:nvSpPr>
          <p:cNvPr id="12" name="Text 10"/>
          <p:cNvSpPr/>
          <p:nvPr/>
        </p:nvSpPr>
        <p:spPr>
          <a:xfrm>
            <a:off x="485000" y="2971053"/>
            <a:ext cx="3676613" cy="391129"/>
          </a:xfrm>
          <a:prstGeom prst="rect">
            <a:avLst/>
          </a:prstGeom>
          <a:solidFill>
            <a:srgbClr val="DCE9F8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r>
              <a:rPr lang="en-US" sz="941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— SVG 텍스트(정확 좌표)</a:t>
            </a:r>
            <a:endParaRPr lang="en-US" sz="941" dirty="0"/>
          </a:p>
        </p:txBody>
      </p:sp>
      <p:sp>
        <p:nvSpPr>
          <p:cNvPr id="13" name="Text 11"/>
          <p:cNvSpPr/>
          <p:nvPr/>
        </p:nvSpPr>
        <p:spPr>
          <a:xfrm>
            <a:off x="4161613" y="2971053"/>
            <a:ext cx="1095161" cy="391129"/>
          </a:xfrm>
          <a:prstGeom prst="rect">
            <a:avLst/>
          </a:prstGeom>
          <a:solidFill>
            <a:srgbClr val="DCE9F8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algn="ctr"/>
            <a:r>
              <a:rPr lang="en-US" sz="94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0.55</a:t>
            </a:r>
            <a:endParaRPr lang="en-US" sz="941" dirty="0"/>
          </a:p>
        </p:txBody>
      </p:sp>
      <p:sp>
        <p:nvSpPr>
          <p:cNvPr id="14" name="Text 12"/>
          <p:cNvSpPr/>
          <p:nvPr/>
        </p:nvSpPr>
        <p:spPr>
          <a:xfrm>
            <a:off x="5256775" y="2971053"/>
            <a:ext cx="2346774" cy="391129"/>
          </a:xfrm>
          <a:prstGeom prst="rect">
            <a:avLst/>
          </a:prstGeom>
          <a:solidFill>
            <a:srgbClr val="DCE9F8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algn="ctr"/>
            <a:r>
              <a:rPr lang="en-US" sz="94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상한(oracle)</a:t>
            </a:r>
            <a:endParaRPr lang="en-US" sz="941" dirty="0"/>
          </a:p>
        </p:txBody>
      </p:sp>
      <p:sp>
        <p:nvSpPr>
          <p:cNvPr id="15" name="Text 13"/>
          <p:cNvSpPr/>
          <p:nvPr/>
        </p:nvSpPr>
        <p:spPr>
          <a:xfrm>
            <a:off x="485000" y="3362182"/>
            <a:ext cx="3676613" cy="391129"/>
          </a:xfrm>
          <a:prstGeom prst="rect">
            <a:avLst/>
          </a:prstGeom>
          <a:solidFill>
            <a:srgbClr val="F2F3F5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r>
              <a:rPr lang="en-US" sz="94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— 래스터 이미지(좌표 숨김)</a:t>
            </a:r>
            <a:endParaRPr lang="en-US" sz="941" dirty="0"/>
          </a:p>
        </p:txBody>
      </p:sp>
      <p:sp>
        <p:nvSpPr>
          <p:cNvPr id="16" name="Text 14"/>
          <p:cNvSpPr/>
          <p:nvPr/>
        </p:nvSpPr>
        <p:spPr>
          <a:xfrm>
            <a:off x="4161613" y="3362182"/>
            <a:ext cx="1095161" cy="391129"/>
          </a:xfrm>
          <a:prstGeom prst="rect">
            <a:avLst/>
          </a:prstGeom>
          <a:solidFill>
            <a:srgbClr val="F2F3F5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algn="ctr"/>
            <a:r>
              <a:rPr lang="en-US" sz="94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0.41</a:t>
            </a:r>
            <a:endParaRPr lang="en-US" sz="941" dirty="0"/>
          </a:p>
        </p:txBody>
      </p:sp>
      <p:sp>
        <p:nvSpPr>
          <p:cNvPr id="17" name="Text 15"/>
          <p:cNvSpPr/>
          <p:nvPr/>
        </p:nvSpPr>
        <p:spPr>
          <a:xfrm>
            <a:off x="5256775" y="3362182"/>
            <a:ext cx="2346774" cy="391129"/>
          </a:xfrm>
          <a:prstGeom prst="rect">
            <a:avLst/>
          </a:prstGeom>
          <a:solidFill>
            <a:srgbClr val="F2F3F5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algn="ctr"/>
            <a:r>
              <a:rPr lang="en-US" sz="94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−0.15 / p=0.039 (유의)</a:t>
            </a:r>
            <a:endParaRPr lang="en-US" sz="941" dirty="0"/>
          </a:p>
        </p:txBody>
      </p:sp>
      <p:sp>
        <p:nvSpPr>
          <p:cNvPr id="18" name="Text 16"/>
          <p:cNvSpPr/>
          <p:nvPr/>
        </p:nvSpPr>
        <p:spPr>
          <a:xfrm>
            <a:off x="485000" y="3753311"/>
            <a:ext cx="3676613" cy="391129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r>
              <a:rPr lang="en-US" sz="94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— 1뷰</a:t>
            </a:r>
            <a:endParaRPr lang="en-US" sz="941" dirty="0"/>
          </a:p>
        </p:txBody>
      </p:sp>
      <p:sp>
        <p:nvSpPr>
          <p:cNvPr id="19" name="Text 17"/>
          <p:cNvSpPr/>
          <p:nvPr/>
        </p:nvSpPr>
        <p:spPr>
          <a:xfrm>
            <a:off x="4161613" y="3753311"/>
            <a:ext cx="1095161" cy="391129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algn="ctr"/>
            <a:r>
              <a:rPr lang="en-US" sz="94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0.33</a:t>
            </a:r>
            <a:endParaRPr lang="en-US" sz="941" dirty="0"/>
          </a:p>
        </p:txBody>
      </p:sp>
      <p:sp>
        <p:nvSpPr>
          <p:cNvPr id="20" name="Text 18"/>
          <p:cNvSpPr/>
          <p:nvPr/>
        </p:nvSpPr>
        <p:spPr>
          <a:xfrm>
            <a:off x="5256775" y="3753311"/>
            <a:ext cx="2346774" cy="391129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algn="ctr"/>
            <a:r>
              <a:rPr lang="en-US" sz="94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941" dirty="0"/>
          </a:p>
        </p:txBody>
      </p:sp>
      <p:sp>
        <p:nvSpPr>
          <p:cNvPr id="21" name="Text 19"/>
          <p:cNvSpPr/>
          <p:nvPr/>
        </p:nvSpPr>
        <p:spPr>
          <a:xfrm>
            <a:off x="485000" y="4144440"/>
            <a:ext cx="3676613" cy="391129"/>
          </a:xfrm>
          <a:prstGeom prst="rect">
            <a:avLst/>
          </a:prstGeom>
          <a:solidFill>
            <a:srgbClr val="F2F3F5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r>
              <a:rPr lang="en-US" sz="94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— 3뷰</a:t>
            </a:r>
            <a:endParaRPr lang="en-US" sz="941" dirty="0"/>
          </a:p>
        </p:txBody>
      </p:sp>
      <p:sp>
        <p:nvSpPr>
          <p:cNvPr id="22" name="Text 20"/>
          <p:cNvSpPr/>
          <p:nvPr/>
        </p:nvSpPr>
        <p:spPr>
          <a:xfrm>
            <a:off x="4161613" y="4144440"/>
            <a:ext cx="1095161" cy="391129"/>
          </a:xfrm>
          <a:prstGeom prst="rect">
            <a:avLst/>
          </a:prstGeom>
          <a:solidFill>
            <a:srgbClr val="F2F3F5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algn="ctr"/>
            <a:r>
              <a:rPr lang="en-US" sz="94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0.28</a:t>
            </a:r>
            <a:endParaRPr lang="en-US" sz="941" dirty="0"/>
          </a:p>
        </p:txBody>
      </p:sp>
      <p:sp>
        <p:nvSpPr>
          <p:cNvPr id="23" name="Text 21"/>
          <p:cNvSpPr/>
          <p:nvPr/>
        </p:nvSpPr>
        <p:spPr>
          <a:xfrm>
            <a:off x="5256775" y="4144440"/>
            <a:ext cx="2346774" cy="391129"/>
          </a:xfrm>
          <a:prstGeom prst="rect">
            <a:avLst/>
          </a:prstGeom>
          <a:solidFill>
            <a:srgbClr val="F2F3F5"/>
          </a:solidFill>
          <a:ln w="6350">
            <a:solidFill>
              <a:srgbClr val="E3E6EA"/>
            </a:solidFill>
          </a:ln>
        </p:spPr>
        <p:txBody>
          <a:bodyPr wrap="square" rtlCol="0" anchor="ctr"/>
          <a:lstStyle/>
          <a:p>
            <a:pPr algn="ctr"/>
            <a:r>
              <a:rPr lang="en-US" sz="94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−0.05 / p=0.58 (유의X)</a:t>
            </a:r>
            <a:endParaRPr lang="en-US" sz="941" dirty="0"/>
          </a:p>
        </p:txBody>
      </p:sp>
      <p:sp>
        <p:nvSpPr>
          <p:cNvPr id="24" name="Shape 22"/>
          <p:cNvSpPr/>
          <p:nvPr/>
        </p:nvSpPr>
        <p:spPr>
          <a:xfrm>
            <a:off x="485000" y="4692021"/>
            <a:ext cx="8174597" cy="1212500"/>
          </a:xfrm>
          <a:prstGeom prst="roundRect">
            <a:avLst>
              <a:gd name="adj" fmla="val 5161"/>
            </a:avLst>
          </a:prstGeom>
          <a:solidFill>
            <a:srgbClr val="1667C8"/>
          </a:solidFill>
          <a:ln/>
        </p:spPr>
        <p:txBody>
          <a:bodyPr/>
          <a:lstStyle/>
          <a:p>
            <a:endParaRPr lang="ko-KR" altLang="en-US" sz="1540"/>
          </a:p>
        </p:txBody>
      </p:sp>
      <p:sp>
        <p:nvSpPr>
          <p:cNvPr id="25" name="Text 23"/>
          <p:cNvSpPr/>
          <p:nvPr/>
        </p:nvSpPr>
        <p:spPr>
          <a:xfrm>
            <a:off x="719677" y="4801537"/>
            <a:ext cx="7705243" cy="2346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4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941" dirty="0"/>
          </a:p>
        </p:txBody>
      </p:sp>
      <p:sp>
        <p:nvSpPr>
          <p:cNvPr id="26" name="Text 24"/>
          <p:cNvSpPr/>
          <p:nvPr/>
        </p:nvSpPr>
        <p:spPr>
          <a:xfrm>
            <a:off x="719677" y="5067505"/>
            <a:ext cx="7705243" cy="7431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283"/>
              </a:lnSpc>
            </a:pPr>
            <a:r>
              <a:rPr lang="en-US" sz="898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좌표를 숨기면(래스터화) IoU 유의 하락(p=0.039). 반면 뷰를 늘려도 변화 없음(p=0.58). ∴ 벡터의 우위 = “정확한 기하를 텍스트로 전달”한 데서 오며, 뷰 개수가 아니다.</a:t>
            </a:r>
            <a:endParaRPr lang="en-US" sz="898" dirty="0"/>
          </a:p>
        </p:txBody>
      </p:sp>
      <p:sp>
        <p:nvSpPr>
          <p:cNvPr id="27" name="Text 25"/>
          <p:cNvSpPr/>
          <p:nvPr/>
        </p:nvSpPr>
        <p:spPr>
          <a:xfrm>
            <a:off x="8440565" y="6272183"/>
            <a:ext cx="391129" cy="2346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770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7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4037"/>
            <a:ext cx="9144598" cy="93871"/>
          </a:xfrm>
          <a:prstGeom prst="rect">
            <a:avLst/>
          </a:prstGeom>
          <a:solidFill>
            <a:srgbClr val="1667C8"/>
          </a:solidFill>
          <a:ln/>
        </p:spPr>
        <p:txBody>
          <a:bodyPr/>
          <a:lstStyle/>
          <a:p>
            <a:endParaRPr lang="ko-KR" altLang="en-US" sz="1540"/>
          </a:p>
        </p:txBody>
      </p:sp>
      <p:sp>
        <p:nvSpPr>
          <p:cNvPr id="3" name="Text 1"/>
          <p:cNvSpPr/>
          <p:nvPr/>
        </p:nvSpPr>
        <p:spPr>
          <a:xfrm>
            <a:off x="485000" y="585166"/>
            <a:ext cx="5475807" cy="2346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70" kern="0" spc="171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석  ·  계 획</a:t>
            </a:r>
            <a:endParaRPr lang="en-US" sz="770" dirty="0"/>
          </a:p>
        </p:txBody>
      </p:sp>
      <p:sp>
        <p:nvSpPr>
          <p:cNvPr id="4" name="Text 2"/>
          <p:cNvSpPr/>
          <p:nvPr/>
        </p:nvSpPr>
        <p:spPr>
          <a:xfrm>
            <a:off x="485000" y="835488"/>
            <a:ext cx="8174597" cy="547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53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해석 &amp; 다음 계획</a:t>
            </a:r>
            <a:endParaRPr lang="en-US" sz="2053" dirty="0"/>
          </a:p>
        </p:txBody>
      </p:sp>
      <p:sp>
        <p:nvSpPr>
          <p:cNvPr id="5" name="Shape 3"/>
          <p:cNvSpPr/>
          <p:nvPr/>
        </p:nvSpPr>
        <p:spPr>
          <a:xfrm>
            <a:off x="485000" y="1461295"/>
            <a:ext cx="8174597" cy="9387"/>
          </a:xfrm>
          <a:prstGeom prst="rect">
            <a:avLst/>
          </a:prstGeom>
          <a:solidFill>
            <a:srgbClr val="E3E6EA"/>
          </a:solidFill>
          <a:ln/>
        </p:spPr>
        <p:txBody>
          <a:bodyPr/>
          <a:lstStyle/>
          <a:p>
            <a:endParaRPr lang="ko-KR" altLang="en-US" sz="1540"/>
          </a:p>
        </p:txBody>
      </p:sp>
      <p:sp>
        <p:nvSpPr>
          <p:cNvPr id="6" name="Shape 4"/>
          <p:cNvSpPr/>
          <p:nvPr/>
        </p:nvSpPr>
        <p:spPr>
          <a:xfrm>
            <a:off x="485000" y="1719440"/>
            <a:ext cx="3930847" cy="1056048"/>
          </a:xfrm>
          <a:prstGeom prst="roundRect">
            <a:avLst>
              <a:gd name="adj" fmla="val 4444"/>
            </a:avLst>
          </a:prstGeom>
          <a:solidFill>
            <a:srgbClr val="DCE9F8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 sz="1540"/>
          </a:p>
        </p:txBody>
      </p:sp>
      <p:sp>
        <p:nvSpPr>
          <p:cNvPr id="7" name="Text 5"/>
          <p:cNvSpPr/>
          <p:nvPr/>
        </p:nvSpPr>
        <p:spPr>
          <a:xfrm>
            <a:off x="704032" y="1844602"/>
            <a:ext cx="3539718" cy="273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98" b="1" dirty="0">
                <a:solidFill>
                  <a:srgbClr val="1667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순서 전이</a:t>
            </a:r>
            <a:endParaRPr lang="en-US" sz="1198" dirty="0"/>
          </a:p>
        </p:txBody>
      </p:sp>
      <p:sp>
        <p:nvSpPr>
          <p:cNvPr id="8" name="Text 6"/>
          <p:cNvSpPr/>
          <p:nvPr/>
        </p:nvSpPr>
        <p:spPr>
          <a:xfrm>
            <a:off x="704032" y="2188795"/>
            <a:ext cx="3492783" cy="547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283"/>
              </a:lnSpc>
            </a:pPr>
            <a:r>
              <a:rPr lang="en-US" sz="898" dirty="0">
                <a:solidFill>
                  <a:srgbClr val="5A63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&gt; 이미지 &gt; 텍스트가 유효율·IoU·요구조건·VLM 전반에서 재현. 2D 선행연구가 3D에서도 유효.</a:t>
            </a:r>
            <a:endParaRPr lang="en-US" sz="898" dirty="0"/>
          </a:p>
        </p:txBody>
      </p:sp>
      <p:sp>
        <p:nvSpPr>
          <p:cNvPr id="9" name="Shape 7"/>
          <p:cNvSpPr/>
          <p:nvPr/>
        </p:nvSpPr>
        <p:spPr>
          <a:xfrm>
            <a:off x="4728750" y="1719440"/>
            <a:ext cx="3930847" cy="1056048"/>
          </a:xfrm>
          <a:prstGeom prst="roundRect">
            <a:avLst>
              <a:gd name="adj" fmla="val 4444"/>
            </a:avLst>
          </a:prstGeom>
          <a:solidFill>
            <a:srgbClr val="DCE9F8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 sz="1540"/>
          </a:p>
        </p:txBody>
      </p:sp>
      <p:sp>
        <p:nvSpPr>
          <p:cNvPr id="10" name="Text 8"/>
          <p:cNvSpPr/>
          <p:nvPr/>
        </p:nvSpPr>
        <p:spPr>
          <a:xfrm>
            <a:off x="4947782" y="1844602"/>
            <a:ext cx="3539718" cy="273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98" b="1" dirty="0">
                <a:solidFill>
                  <a:srgbClr val="1667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모델 역전</a:t>
            </a:r>
            <a:endParaRPr lang="en-US" sz="1198" dirty="0"/>
          </a:p>
        </p:txBody>
      </p:sp>
      <p:sp>
        <p:nvSpPr>
          <p:cNvPr id="11" name="Text 9"/>
          <p:cNvSpPr/>
          <p:nvPr/>
        </p:nvSpPr>
        <p:spPr>
          <a:xfrm>
            <a:off x="4947782" y="2188795"/>
            <a:ext cx="3492783" cy="547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283"/>
              </a:lnSpc>
            </a:pPr>
            <a:r>
              <a:rPr lang="en-US" sz="898" dirty="0">
                <a:solidFill>
                  <a:srgbClr val="5A63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강한 모델일수록 시각 입력을 활용 — flash는 텍스트≈이미지, pro는 이미지&gt;텍스트.</a:t>
            </a:r>
            <a:endParaRPr lang="en-US" sz="898" dirty="0"/>
          </a:p>
        </p:txBody>
      </p:sp>
      <p:sp>
        <p:nvSpPr>
          <p:cNvPr id="12" name="Shape 10"/>
          <p:cNvSpPr/>
          <p:nvPr/>
        </p:nvSpPr>
        <p:spPr>
          <a:xfrm>
            <a:off x="485000" y="2892827"/>
            <a:ext cx="3930847" cy="1056048"/>
          </a:xfrm>
          <a:prstGeom prst="roundRect">
            <a:avLst>
              <a:gd name="adj" fmla="val 4444"/>
            </a:avLst>
          </a:prstGeom>
          <a:solidFill>
            <a:srgbClr val="F2F3F5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 sz="1540"/>
          </a:p>
        </p:txBody>
      </p:sp>
      <p:sp>
        <p:nvSpPr>
          <p:cNvPr id="13" name="Text 11"/>
          <p:cNvSpPr/>
          <p:nvPr/>
        </p:nvSpPr>
        <p:spPr>
          <a:xfrm>
            <a:off x="704032" y="3017989"/>
            <a:ext cx="3539718" cy="273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98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지표 맹점</a:t>
            </a:r>
            <a:endParaRPr lang="en-US" sz="1198" dirty="0"/>
          </a:p>
        </p:txBody>
      </p:sp>
      <p:sp>
        <p:nvSpPr>
          <p:cNvPr id="14" name="Text 12"/>
          <p:cNvSpPr/>
          <p:nvPr/>
        </p:nvSpPr>
        <p:spPr>
          <a:xfrm>
            <a:off x="704032" y="3362182"/>
            <a:ext cx="3492783" cy="547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283"/>
              </a:lnSpc>
            </a:pPr>
            <a:r>
              <a:rPr lang="en-US" sz="898" dirty="0">
                <a:solidFill>
                  <a:srgbClr val="5A63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전체형상 지표는 국소 특징을 놓침(box enclosure) → VLM 심판으로 보완.</a:t>
            </a:r>
            <a:endParaRPr lang="en-US" sz="898" dirty="0"/>
          </a:p>
        </p:txBody>
      </p:sp>
      <p:sp>
        <p:nvSpPr>
          <p:cNvPr id="15" name="Shape 13"/>
          <p:cNvSpPr/>
          <p:nvPr/>
        </p:nvSpPr>
        <p:spPr>
          <a:xfrm>
            <a:off x="4728750" y="2892827"/>
            <a:ext cx="3930847" cy="1056048"/>
          </a:xfrm>
          <a:prstGeom prst="roundRect">
            <a:avLst>
              <a:gd name="adj" fmla="val 4444"/>
            </a:avLst>
          </a:prstGeom>
          <a:solidFill>
            <a:srgbClr val="F2F3F5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 sz="1540"/>
          </a:p>
        </p:txBody>
      </p:sp>
      <p:sp>
        <p:nvSpPr>
          <p:cNvPr id="16" name="Text 14"/>
          <p:cNvSpPr/>
          <p:nvPr/>
        </p:nvSpPr>
        <p:spPr>
          <a:xfrm>
            <a:off x="4947782" y="3017989"/>
            <a:ext cx="3539718" cy="273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98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선행연구 대비</a:t>
            </a:r>
            <a:endParaRPr lang="en-US" sz="1198" dirty="0"/>
          </a:p>
        </p:txBody>
      </p:sp>
      <p:sp>
        <p:nvSpPr>
          <p:cNvPr id="17" name="Text 15"/>
          <p:cNvSpPr/>
          <p:nvPr/>
        </p:nvSpPr>
        <p:spPr>
          <a:xfrm>
            <a:off x="4947782" y="3362182"/>
            <a:ext cx="3492783" cy="547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283"/>
              </a:lnSpc>
            </a:pPr>
            <a:r>
              <a:rPr lang="en-US" sz="898" dirty="0">
                <a:solidFill>
                  <a:srgbClr val="5A63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LLM4CAD·Drawing2CAD 대비 “제로샷 LLM 확인 + 평가 맹점”으로 차별.</a:t>
            </a:r>
            <a:endParaRPr lang="en-US" sz="898" dirty="0"/>
          </a:p>
        </p:txBody>
      </p:sp>
      <p:sp>
        <p:nvSpPr>
          <p:cNvPr id="18" name="Text 16"/>
          <p:cNvSpPr/>
          <p:nvPr/>
        </p:nvSpPr>
        <p:spPr>
          <a:xfrm>
            <a:off x="485000" y="4222666"/>
            <a:ext cx="5475807" cy="2033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27" kern="0" spc="171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계획</a:t>
            </a:r>
            <a:endParaRPr lang="en-US" sz="727" dirty="0"/>
          </a:p>
        </p:txBody>
      </p:sp>
      <p:sp>
        <p:nvSpPr>
          <p:cNvPr id="19" name="Text 17"/>
          <p:cNvSpPr/>
          <p:nvPr/>
        </p:nvSpPr>
        <p:spPr>
          <a:xfrm>
            <a:off x="485000" y="4496457"/>
            <a:ext cx="8174597" cy="3285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283"/>
              </a:lnSpc>
            </a:pPr>
            <a:r>
              <a:rPr lang="en-US" sz="94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다중 seed 반복으로 통계 검증 완결 (유료 API로 진행 가능)</a:t>
            </a:r>
            <a:endParaRPr lang="en-US" sz="941" dirty="0"/>
          </a:p>
        </p:txBody>
      </p:sp>
      <p:sp>
        <p:nvSpPr>
          <p:cNvPr id="20" name="Text 18"/>
          <p:cNvSpPr/>
          <p:nvPr/>
        </p:nvSpPr>
        <p:spPr>
          <a:xfrm>
            <a:off x="485000" y="4825005"/>
            <a:ext cx="8174597" cy="3285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283"/>
              </a:lnSpc>
            </a:pPr>
            <a:r>
              <a:rPr lang="en-US" sz="94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VLM 심판 사람-검증(신뢰도 확보)</a:t>
            </a:r>
            <a:endParaRPr lang="en-US" sz="941" dirty="0"/>
          </a:p>
        </p:txBody>
      </p:sp>
      <p:sp>
        <p:nvSpPr>
          <p:cNvPr id="21" name="Text 19"/>
          <p:cNvSpPr/>
          <p:nvPr/>
        </p:nvSpPr>
        <p:spPr>
          <a:xfrm>
            <a:off x="485000" y="5153553"/>
            <a:ext cx="8174597" cy="3285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283"/>
              </a:lnSpc>
            </a:pPr>
            <a:r>
              <a:rPr lang="en-US" sz="94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논문 마무리(국내 학회) + 선행연구 대비 정리</a:t>
            </a:r>
            <a:endParaRPr lang="en-US" sz="941" dirty="0"/>
          </a:p>
        </p:txBody>
      </p:sp>
      <p:sp>
        <p:nvSpPr>
          <p:cNvPr id="22" name="Shape 20"/>
          <p:cNvSpPr/>
          <p:nvPr/>
        </p:nvSpPr>
        <p:spPr>
          <a:xfrm>
            <a:off x="485000" y="5630731"/>
            <a:ext cx="8174597" cy="782258"/>
          </a:xfrm>
          <a:prstGeom prst="roundRect">
            <a:avLst>
              <a:gd name="adj" fmla="val 8000"/>
            </a:avLst>
          </a:prstGeom>
          <a:solidFill>
            <a:srgbClr val="1667C8"/>
          </a:solidFill>
          <a:ln/>
        </p:spPr>
        <p:txBody>
          <a:bodyPr/>
          <a:lstStyle/>
          <a:p>
            <a:endParaRPr lang="ko-KR" altLang="en-US" sz="1540"/>
          </a:p>
        </p:txBody>
      </p:sp>
      <p:sp>
        <p:nvSpPr>
          <p:cNvPr id="23" name="Text 21"/>
          <p:cNvSpPr/>
          <p:nvPr/>
        </p:nvSpPr>
        <p:spPr>
          <a:xfrm>
            <a:off x="719677" y="5740247"/>
            <a:ext cx="7705243" cy="2346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4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941" dirty="0"/>
          </a:p>
        </p:txBody>
      </p:sp>
      <p:sp>
        <p:nvSpPr>
          <p:cNvPr id="24" name="Text 22"/>
          <p:cNvSpPr/>
          <p:nvPr/>
        </p:nvSpPr>
        <p:spPr>
          <a:xfrm>
            <a:off x="719677" y="6006215"/>
            <a:ext cx="7705243" cy="3129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283"/>
              </a:lnSpc>
            </a:pPr>
            <a:r>
              <a:rPr lang="en-US" sz="898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: “벡터가 낫다”를 넘어 — 왜(좌표-텍스트, p=0.039) + 통계 유의성(p&lt;0.001) + 선행연구 대비 위치까지 규명.</a:t>
            </a:r>
            <a:endParaRPr lang="en-US" sz="898" dirty="0"/>
          </a:p>
        </p:txBody>
      </p:sp>
      <p:sp>
        <p:nvSpPr>
          <p:cNvPr id="25" name="Text 23"/>
          <p:cNvSpPr/>
          <p:nvPr/>
        </p:nvSpPr>
        <p:spPr>
          <a:xfrm>
            <a:off x="8440565" y="6272183"/>
            <a:ext cx="391129" cy="2346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770" dirty="0">
                <a:solidFill>
                  <a:srgbClr val="97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77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9144000" cy="256032"/>
          </a:xfrm>
          <a:prstGeom prst="rect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“큰 형상(IoU) · 구조(요구조건) · 세부(VLM)”를 나눠 재고,</a:t>
            </a:r>
            <a:endParaRPr lang="en-US" sz="22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잣대 모두에서 벡터 입력이 가장 정확했다.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숫자를 믿지 않고, 서로 다른 관점을 교차해 결론의 신뢰를 확보한 것이 이 평가의 핵심.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1650</Words>
  <Application>Microsoft Macintosh PowerPoint</Application>
  <PresentationFormat>화면 슬라이드 쇼(4:3)</PresentationFormat>
  <Paragraphs>253</Paragraphs>
  <Slides>19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장영아</cp:lastModifiedBy>
  <cp:revision>2</cp:revision>
  <dcterms:created xsi:type="dcterms:W3CDTF">2026-07-27T05:35:40Z</dcterms:created>
  <dcterms:modified xsi:type="dcterms:W3CDTF">2026-08-10T03:33:33Z</dcterms:modified>
</cp:coreProperties>
</file>