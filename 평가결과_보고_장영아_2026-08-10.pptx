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1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26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7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831"/>
                </a:solidFill>
                <a:latin typeface="Malgun Gothic"/>
              </a:defRPr>
            </a:pPr>
            <a:r>
              <a:rPr lang="en" sz="1300" b="0" i="0" u="none" strike="noStrike">
                <a:solidFill>
                  <a:srgbClr val="222831"/>
                </a:solidFill>
                <a:latin typeface="Malgun Gothic"/>
              </a:rPr>
              <a:t>Voxel IoU by modality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flash</c:v>
                </c:pt>
              </c:strCache>
            </c:strRef>
          </c:tx>
          <c:spPr>
            <a:solidFill>
              <a:srgbClr val="1C6FC9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텍스트</c:v>
                </c:pt>
                <c:pt idx="1">
                  <c:v>이미지</c:v>
                </c:pt>
                <c:pt idx="2">
                  <c:v>벡터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0.23899999999999999</c:v>
                </c:pt>
                <c:pt idx="1">
                  <c:v>0.33400000000000002</c:v>
                </c:pt>
                <c:pt idx="2">
                  <c:v>0.49199999999999999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6C-D84C-AEA9-8A47B68C67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</c:v>
                </c:pt>
              </c:strCache>
            </c:strRef>
          </c:tx>
          <c:spPr>
            <a:solidFill>
              <a:srgbClr val="222831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텍스트</c:v>
                </c:pt>
                <c:pt idx="1">
                  <c:v>이미지</c:v>
                </c:pt>
                <c:pt idx="2">
                  <c:v>벡터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0.28000000000000003</c:v>
                </c:pt>
                <c:pt idx="1">
                  <c:v>0.38</c:v>
                </c:pt>
                <c:pt idx="2">
                  <c:v>0.67300000000000004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16C-D84C-AEA9-8A47B68C67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831"/>
                </a:solidFill>
                <a:latin typeface="Malgun Gothic"/>
              </a:defRPr>
            </a:pPr>
            <a:r>
              <a:rPr lang="ko-KR" altLang="en-US" sz="1300" b="0" i="0" u="none" strike="noStrike">
                <a:solidFill>
                  <a:srgbClr val="222831"/>
                </a:solidFill>
                <a:latin typeface="Malgun Gothic"/>
              </a:rPr>
              <a:t>요구조건 만족률 </a:t>
            </a:r>
            <a:r>
              <a:rPr lang="en-US" altLang="ko-KR" sz="1300" b="0" i="0" u="none" strike="noStrike">
                <a:solidFill>
                  <a:srgbClr val="222831"/>
                </a:solidFill>
                <a:latin typeface="Malgun Gothic"/>
              </a:rPr>
              <a:t>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flash</c:v>
                </c:pt>
              </c:strCache>
            </c:strRef>
          </c:tx>
          <c:spPr>
            <a:solidFill>
              <a:srgbClr val="1C6FC9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텍스트</c:v>
                </c:pt>
                <c:pt idx="1">
                  <c:v>이미지</c:v>
                </c:pt>
                <c:pt idx="2">
                  <c:v>벡터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73</c:v>
                </c:pt>
                <c:pt idx="2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39-AF44-ACDF-0A444CAF45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</c:v>
                </c:pt>
              </c:strCache>
            </c:strRef>
          </c:tx>
          <c:spPr>
            <a:solidFill>
              <a:srgbClr val="222831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텍스트</c:v>
                </c:pt>
                <c:pt idx="1">
                  <c:v>이미지</c:v>
                </c:pt>
                <c:pt idx="2">
                  <c:v>벡터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</c:v>
                </c:pt>
                <c:pt idx="1">
                  <c:v>72</c:v>
                </c:pt>
                <c:pt idx="2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39-AF44-ACDF-0A444CAF45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47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611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13897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4600"/>
              </a:lnSpc>
            </a:pPr>
            <a:r>
              <a:rPr lang="en-US" altLang="ko-KR" sz="32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</a:t>
            </a:r>
            <a:r>
              <a:rPr lang="en-US" altLang="ko-KR" sz="32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</a:t>
            </a:r>
            <a:r>
              <a:rPr lang="en-US" altLang="ko-KR" sz="32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3D CAD </a:t>
            </a:r>
            <a:r>
              <a:rPr lang="en-US" altLang="ko-KR" sz="32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altLang="ko-KR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생성한</a:t>
            </a:r>
            <a:r>
              <a:rPr lang="en-US" sz="16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3D </a:t>
            </a:r>
            <a:r>
              <a:rPr lang="en-US" sz="1600" b="1" dirty="0" err="1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형상이</a:t>
            </a:r>
            <a:r>
              <a:rPr lang="en-US" sz="16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“</a:t>
            </a:r>
            <a:r>
              <a:rPr lang="en-US" sz="1600" b="1" dirty="0" err="1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정답과</a:t>
            </a:r>
            <a:r>
              <a:rPr lang="en-US" sz="16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</a:t>
            </a:r>
            <a:r>
              <a:rPr lang="en-US" sz="16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같은가”를</a:t>
            </a:r>
            <a:r>
              <a:rPr lang="en-US" sz="16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재는</a:t>
            </a:r>
            <a:r>
              <a:rPr lang="en-US" sz="16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</a:t>
            </a:r>
            <a:r>
              <a:rPr lang="en-US" sz="16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가지</a:t>
            </a:r>
            <a:r>
              <a:rPr lang="en-US" sz="16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방법과</a:t>
            </a:r>
            <a:r>
              <a:rPr lang="en-US" sz="16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</a:t>
            </a:r>
            <a:r>
              <a:rPr lang="en-US" sz="16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</a:t>
            </a:r>
            <a:endParaRPr lang="en-US" sz="1600" b="1" dirty="0">
              <a:solidFill>
                <a:srgbClr val="0070C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4132729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dirty="0"/>
              <a:t>통합과정</a:t>
            </a:r>
            <a:r>
              <a:rPr lang="ko-KR" altLang="ko-KR" dirty="0"/>
              <a:t> :: 인공지능응용연구실 :: 한국원자력연구원 (KAERI)</a:t>
            </a:r>
          </a:p>
          <a:p>
            <a:pPr algn="ctr"/>
            <a:r>
              <a:rPr lang="ko-KR" altLang="en-US" dirty="0"/>
              <a:t>장영아</a:t>
            </a:r>
            <a:endParaRPr lang="ko-KR" altLang="ko-KR" dirty="0"/>
          </a:p>
          <a:p>
            <a:pPr algn="ctr"/>
            <a:r>
              <a:rPr lang="en-US" altLang="ko-KR" dirty="0"/>
              <a:t>jya03</a:t>
            </a:r>
            <a:r>
              <a:rPr lang="ko-KR" altLang="ko-KR" dirty="0"/>
              <a:t>@kaeri.re.kr</a:t>
            </a:r>
          </a:p>
        </p:txBody>
      </p:sp>
      <p:sp>
        <p:nvSpPr>
          <p:cNvPr id="7" name="Text 5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D292583D-811E-BF9B-5AA9-45FA45F77615}"/>
              </a:ext>
            </a:extLst>
          </p:cNvPr>
          <p:cNvSpPr/>
          <p:nvPr/>
        </p:nvSpPr>
        <p:spPr>
          <a:xfrm>
            <a:off x="3173506" y="3572435"/>
            <a:ext cx="2796988" cy="45719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무엇을, 왜 이렇게 평가하나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만든 3D 형상이 “정답과 얼마나 같은가”를 서로 다른 3개 관점으로 교차 검증한다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977640" cy="4206240"/>
          </a:xfrm>
          <a:prstGeom prst="roundRect">
            <a:avLst>
              <a:gd name="adj" fmla="val 1609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3520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입력이 더 정확한 3D를 만드나?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부품을 세 가지 입력(텍스트·이미지·벡터 도면)으로 생성한 결과를 각 부품의 원본 STEP(정답)과 비교한다.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지표가 3개인가?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“얼마나 닮았나”는 보는 관점마다 답이 다르다. 숫자 하나로는 형상을 다 보지 못하므로, 서로 다른 것을 재는 3개 잣대를 함께 본다.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17720" y="1783080"/>
            <a:ext cx="40690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828032" y="203911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828032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0" y="200253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회전정렬 Voxel IoU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24048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형상·비율 (부피 겹침)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3200400"/>
            <a:ext cx="40690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828032" y="345643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828032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0" y="341985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요구조건 만족률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38221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피처의 성립 여부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4617720"/>
            <a:ext cx="40690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828032" y="487375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28032" y="4873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0" y="483717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심판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52395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국소 세부 피처 (창문·구멍·내벽)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기반 3D CAD 생성 평가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58368" y="3291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RELATED WORK · 기존 연구와 비교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CAD 평가 지표의 한계와 본 연구의 보완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접근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776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58368" y="20482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기하 지표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3774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점군·메시 기반 Chamfer Distance · F-score · Voxel IoU 가 널리 쓰임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280720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전체 형상 유사도에 치우쳐 국소 피처에 둔감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39776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58368" y="34198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기반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37490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CADTestBench[4] — 테스트 기반 평가 제안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417880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구조·기능 검증 관점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39776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" y="47914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심판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" y="51206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연구는 시각-언어 모델을 심판(judge)으로 활용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" y="555040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기하 지표의 한계 보완 목적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1554480"/>
            <a:ext cx="4069080" cy="4434840"/>
          </a:xfrm>
          <a:prstGeom prst="roundRect">
            <a:avLst>
              <a:gd name="adj" fmla="val 1573"/>
            </a:avLst>
          </a:prstGeom>
          <a:solidFill>
            <a:srgbClr val="E8F0FB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84632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연구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2121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관점을 병행·교차 검증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5603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회전정렬 Voxel IoU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	</a:t>
            </a:r>
            <a:r>
              <a:rPr lang="en-US" sz="115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</a:t>
            </a: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차이로 인한 </a:t>
            </a:r>
            <a:r>
              <a:rPr lang="en-US" sz="115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과소평가</a:t>
            </a: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완화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자동 도출 요구조건 검사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	</a:t>
            </a:r>
            <a:r>
              <a:rPr lang="en-US" sz="115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</a:t>
            </a: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STEP에서</a:t>
            </a: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검사 가능한 조건 추출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심판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	</a:t>
            </a:r>
            <a:r>
              <a:rPr lang="en-US" sz="115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생성과</a:t>
            </a: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독립된 판정자로 국소 피처 평가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5349240"/>
            <a:ext cx="3611880" cy="0"/>
          </a:xfrm>
          <a:prstGeom prst="line">
            <a:avLst/>
          </a:prstGeom>
          <a:noFill/>
          <a:ln w="12700">
            <a:solidFill>
              <a:srgbClr val="B9CD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846320" y="5440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세 지표를 병행하여 전체 형상 · 구조 · 국소 세부를 상호 보완적으로 교차 검증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기반 3D CAD 생성 평가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58368" y="3291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&amp; PIPELINE · 데이터와 생성 파이프라인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FreeCAD 20종 → replicad 코드 생성 → OpenCASCADE 실행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원본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(정답)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920240" y="1627632"/>
            <a:ext cx="292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1627632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194560" y="1627632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생성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replicad (JS)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0" y="1627632"/>
            <a:ext cx="292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0" y="1627632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931920" y="1627632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OpenCASCADE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94960" y="1627632"/>
            <a:ext cx="292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1627632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669280" y="1627632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/ STL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132320" y="1627632"/>
            <a:ext cx="292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1627632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1C6FC9"/>
          </a:solidFill>
          <a:ln w="1270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406640" y="1627632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다관점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전략: repair-loop (생성 → 검증 → 수정)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1737360" cy="512064"/>
          </a:xfrm>
          <a:prstGeom prst="rect">
            <a:avLst/>
          </a:prstGeom>
          <a:solidFill>
            <a:srgbClr val="134E96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306324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194560" y="3063240"/>
            <a:ext cx="6492240" cy="512064"/>
          </a:xfrm>
          <a:prstGeom prst="rect">
            <a:avLst/>
          </a:prstGeom>
          <a:solidFill>
            <a:srgbClr val="134E96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240280" y="306324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3575304"/>
            <a:ext cx="1737360" cy="51206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02920" y="357530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194560" y="3575304"/>
            <a:ext cx="6492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240280" y="3575304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FreeCAD 20종 (쉬움 8 / 보통 9 / 어려움 3)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4087368"/>
            <a:ext cx="1737360" cy="51206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02920" y="408736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모달리티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194560" y="4087368"/>
            <a:ext cx="6492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240280" y="4087368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 /  이미지(등각 렌더)  /  벡터(정투영 SVG)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57200" y="4599432"/>
            <a:ext cx="1737360" cy="51206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02920" y="459943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194560" y="4599432"/>
            <a:ext cx="6492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2240280" y="4599432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gemini-2.5-flash  ·  gemini-3.1-pro-preview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57200" y="5111496"/>
            <a:ext cx="1737360" cy="51206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02920" y="511149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(GT)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194560" y="5111496"/>
            <a:ext cx="6492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2240280" y="5111496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부품의 원본 STEP (사람이 만든 설계 원본)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57200" y="5623560"/>
            <a:ext cx="1737360" cy="51206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02920" y="562356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2194560" y="5623560"/>
            <a:ext cx="6492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2240280" y="562356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회전정렬 Voxel IoU  ·  요구조건 만족률  ·  VLM 심판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기반 3D CAD 생성 평가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29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58368" y="3291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 MODALITY · 입력 모달리티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모달리티는 동일한 부품 설명 텍스트를 공유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7919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700784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121408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설명 텍스트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248716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입력. 형상을 언어로만 기술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8124" y="1554480"/>
            <a:ext cx="267919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278124" y="1700784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15284" y="2121408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등각 렌더 1장 추가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42716" y="248716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 그림으로 모델에 전달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99048" y="1554480"/>
            <a:ext cx="2679192" cy="1554480"/>
          </a:xfrm>
          <a:prstGeom prst="roundRect">
            <a:avLst>
              <a:gd name="adj" fmla="val 4118"/>
            </a:avLst>
          </a:prstGeom>
          <a:solidFill>
            <a:srgbClr val="E8F0FB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9048" y="1700784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36208" y="2121408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정투영 3뷰 도면 추가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63640" y="248716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TechDraw 정면·평면·측면 / SVG </a:t>
            </a:r>
            <a:r>
              <a:rPr lang="en-US" sz="110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8229600" cy="2697480"/>
          </a:xfrm>
          <a:prstGeom prst="roundRect">
            <a:avLst>
              <a:gd name="adj" fmla="val 2373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85800" y="3474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공정성 문제 — 벡터를 두 조건으로 구분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벡터가 정확한 좌표를 텍스트(SVG 소스)로 전달받는 점은 다른 시각 입력과의 정보 접근 형평성 문제를 제기한다.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315968"/>
            <a:ext cx="384048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68680" y="444398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벡터-텍스트  (SVG 원본, 좌표 포함)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4791456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</a:t>
            </a: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기하를 텍스트로 제공할 때 도달 가능한 상한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4315968"/>
            <a:ext cx="3840480" cy="1481328"/>
          </a:xfrm>
          <a:prstGeom prst="roundRect">
            <a:avLst>
              <a:gd name="adj" fmla="val 4321"/>
            </a:avLst>
          </a:prstGeom>
          <a:solidFill>
            <a:srgbClr val="DCE9F8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00600" y="444398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벡터-그림  (SVG 래스터화, 좌표 제거)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4791456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 err="1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절제</a:t>
            </a:r>
            <a:r>
              <a:rPr lang="en-US" sz="12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실험 조건 D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텍스트·이미지와 정보 접근을 맞춘 공정한 모달리티 비교 기준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기반 3D CAD 생성 평가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58368" y="3291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METRICS · 평가 지표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형상 · 구조 · 국소 세부를 나눠 잰다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82296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58368" y="195681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58368" y="1956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회전정렬 Voxel IoU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219456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8F0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형상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52344" y="1883664"/>
            <a:ext cx="6080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생성물·정답을 정규화·복셀화한 </a:t>
            </a:r>
            <a:r>
              <a:rPr lang="en-US" sz="115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</a:t>
            </a: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24개 축정렬 회전 중 최적 겹침을 취해 방향 차이로 인한 과소평가를 제거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990088"/>
            <a:ext cx="82296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58368" y="337413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8368" y="33741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3172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요구조건 만족률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1600" y="361188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8F0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371600" y="36118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피처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52344" y="3300984"/>
            <a:ext cx="6080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STEP에서 자동 </a:t>
            </a:r>
            <a:r>
              <a:rPr lang="en-US" sz="115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도출한</a:t>
            </a: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</a:t>
            </a:r>
            <a:endParaRPr lang="en-US" sz="115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(R1 유효 solid · R2 부품수 · R4 비율 · R5 중공 · R6 연결)의 평균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407408"/>
            <a:ext cx="82296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58368" y="479145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58368" y="4791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4590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심판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71600" y="50292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8F0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371600" y="50292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국소 세부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52344" y="4718304"/>
            <a:ext cx="5971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정답·생성물을 다중 뷰로 렌더해 독립된 VLM에 </a:t>
            </a:r>
            <a:r>
              <a:rPr lang="en-US" sz="115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</a:t>
            </a: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요구 피처별 충족(있음/부분/없음)과 전체 일치도 판정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기반 3D CAD 생성 평가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02336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1C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804672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00" b="1" i="0">
                <a:solidFill>
                  <a:srgbClr val="1C6FC9"/>
                </a:solidFill>
                <a:latin typeface="Malgun Gothic"/>
                <a:cs typeface="Malgun Gothic"/>
              </a:rPr>
              <a:t>METHOD · 요구조건 자동 도출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00071"/>
            <a:ext cx="8229600" cy="410369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500" b="1" i="0" dirty="0" err="1">
                <a:solidFill>
                  <a:srgbClr val="222831"/>
                </a:solidFill>
                <a:latin typeface="Malgun Gothic"/>
                <a:cs typeface="Malgun Gothic"/>
              </a:rPr>
              <a:t>요구조건은</a:t>
            </a:r>
            <a:r>
              <a:rPr sz="2500" b="1" i="0" dirty="0">
                <a:solidFill>
                  <a:srgbClr val="222831"/>
                </a:solidFill>
                <a:latin typeface="Malgun Gothic"/>
                <a:cs typeface="Malgun Gothic"/>
              </a:rPr>
              <a:t> </a:t>
            </a:r>
            <a:r>
              <a:rPr sz="2500" b="1" i="0" dirty="0" err="1">
                <a:solidFill>
                  <a:srgbClr val="222831"/>
                </a:solidFill>
                <a:latin typeface="Malgun Gothic"/>
                <a:cs typeface="Malgun Gothic"/>
              </a:rPr>
              <a:t>어떻게</a:t>
            </a:r>
            <a:r>
              <a:rPr sz="2500" b="1" i="0" dirty="0">
                <a:solidFill>
                  <a:srgbClr val="222831"/>
                </a:solidFill>
                <a:latin typeface="Malgun Gothic"/>
                <a:cs typeface="Malgun Gothic"/>
              </a:rPr>
              <a:t> </a:t>
            </a:r>
            <a:r>
              <a:rPr sz="2500" b="1" i="0" dirty="0" err="1">
                <a:solidFill>
                  <a:srgbClr val="222831"/>
                </a:solidFill>
                <a:latin typeface="Malgun Gothic"/>
                <a:cs typeface="Malgun Gothic"/>
              </a:rPr>
              <a:t>만들어지나</a:t>
            </a:r>
            <a:endParaRPr sz="2500" b="1" i="0" dirty="0">
              <a:solidFill>
                <a:srgbClr val="222831"/>
              </a:solidFill>
              <a:latin typeface="Malgun Gothic"/>
              <a:cs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280884"/>
            <a:ext cx="8229600" cy="2180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50" b="0" i="0" dirty="0" err="1">
                <a:solidFill>
                  <a:srgbClr val="6B7280"/>
                </a:solidFill>
                <a:latin typeface="Malgun Gothic"/>
                <a:cs typeface="Malgun Gothic"/>
              </a:rPr>
              <a:t>결정론적</a:t>
            </a:r>
            <a:r>
              <a:rPr sz="1250" b="0" i="0" dirty="0">
                <a:solidFill>
                  <a:srgbClr val="6B7280"/>
                </a:solidFill>
                <a:latin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6B7280"/>
                </a:solidFill>
                <a:latin typeface="Malgun Gothic"/>
                <a:cs typeface="Malgun Gothic"/>
              </a:rPr>
              <a:t>코드가</a:t>
            </a:r>
            <a:r>
              <a:rPr sz="1250" b="0" i="0" dirty="0">
                <a:solidFill>
                  <a:srgbClr val="6B7280"/>
                </a:solidFill>
                <a:latin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6B7280"/>
                </a:solidFill>
                <a:latin typeface="Malgun Gothic"/>
                <a:cs typeface="Malgun Gothic"/>
              </a:rPr>
              <a:t>정답</a:t>
            </a:r>
            <a:r>
              <a:rPr sz="1250" b="0" i="0" dirty="0">
                <a:solidFill>
                  <a:srgbClr val="6B7280"/>
                </a:solidFill>
                <a:latin typeface="Malgun Gothic"/>
                <a:cs typeface="Malgun Gothic"/>
              </a:rPr>
              <a:t>(GT) </a:t>
            </a:r>
            <a:r>
              <a:rPr sz="1250" b="0" i="0" dirty="0" err="1">
                <a:solidFill>
                  <a:srgbClr val="6B7280"/>
                </a:solidFill>
                <a:latin typeface="Malgun Gothic"/>
                <a:cs typeface="Malgun Gothic"/>
              </a:rPr>
              <a:t>파일을</a:t>
            </a:r>
            <a:r>
              <a:rPr sz="1250" b="0" i="0" dirty="0">
                <a:solidFill>
                  <a:srgbClr val="6B7280"/>
                </a:solidFill>
                <a:latin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6B7280"/>
                </a:solidFill>
                <a:latin typeface="Malgun Gothic"/>
                <a:cs typeface="Malgun Gothic"/>
              </a:rPr>
              <a:t>측정해</a:t>
            </a:r>
            <a:r>
              <a:rPr sz="1250" b="0" i="0" dirty="0">
                <a:solidFill>
                  <a:srgbClr val="6B7280"/>
                </a:solidFill>
                <a:latin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6B7280"/>
                </a:solidFill>
                <a:latin typeface="Malgun Gothic"/>
                <a:cs typeface="Malgun Gothic"/>
              </a:rPr>
              <a:t>기준을</a:t>
            </a:r>
            <a:r>
              <a:rPr sz="1250" b="0" i="0" dirty="0">
                <a:solidFill>
                  <a:srgbClr val="6B7280"/>
                </a:solidFill>
                <a:latin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6B7280"/>
                </a:solidFill>
                <a:latin typeface="Malgun Gothic"/>
                <a:cs typeface="Malgun Gothic"/>
              </a:rPr>
              <a:t>만든다</a:t>
            </a:r>
            <a:r>
              <a:rPr sz="1250" b="0" i="0" dirty="0">
                <a:solidFill>
                  <a:srgbClr val="6B7280"/>
                </a:solidFill>
                <a:latin typeface="Malgun Gothic"/>
                <a:cs typeface="Malgun Gothic"/>
              </a:rPr>
              <a:t> — LLM </a:t>
            </a:r>
            <a:r>
              <a:rPr sz="1250" b="0" i="0" dirty="0" err="1">
                <a:solidFill>
                  <a:srgbClr val="6B7280"/>
                </a:solidFill>
                <a:latin typeface="Malgun Gothic"/>
                <a:cs typeface="Malgun Gothic"/>
              </a:rPr>
              <a:t>아님</a:t>
            </a:r>
            <a:endParaRPr sz="1250" b="0" i="0" dirty="0">
              <a:solidFill>
                <a:srgbClr val="6B7280"/>
              </a:solidFill>
              <a:latin typeface="Malgun Gothic"/>
              <a:cs typeface="Malgun Gothi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664208"/>
            <a:ext cx="1847088" cy="841248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1847088" cy="84124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ts val="1300"/>
              </a:lnSpc>
            </a:pPr>
            <a:r>
              <a:rPr sz="1050" b="1" i="0">
                <a:solidFill>
                  <a:srgbClr val="222831"/>
                </a:solidFill>
                <a:latin typeface="Malgun Gothic"/>
                <a:cs typeface="Malgun Gothic"/>
              </a:rPr>
              <a:t>정답 GT
(STEP · STL)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6856" y="1664208"/>
            <a:ext cx="338328" cy="84124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100" b="0" i="0">
                <a:solidFill>
                  <a:srgbClr val="97A0AC"/>
                </a:solidFill>
                <a:latin typeface="Malgun Gothic"/>
                <a:cs typeface="Malgun Gothic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1664208"/>
            <a:ext cx="1847088" cy="841248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87752" y="1664208"/>
            <a:ext cx="1847088" cy="84124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ts val="1300"/>
              </a:lnSpc>
            </a:pPr>
            <a:r>
              <a:rPr sz="1050" b="1" i="0" dirty="0" err="1">
                <a:solidFill>
                  <a:srgbClr val="222831"/>
                </a:solidFill>
                <a:latin typeface="Malgun Gothic"/>
                <a:cs typeface="Malgun Gothic"/>
              </a:rPr>
              <a:t>기하</a:t>
            </a:r>
            <a:r>
              <a:rPr sz="1050" b="1" i="0" dirty="0">
                <a:solidFill>
                  <a:srgbClr val="222831"/>
                </a:solidFill>
                <a:latin typeface="Malgun Gothic"/>
                <a:cs typeface="Malgun Gothic"/>
              </a:rPr>
              <a:t> </a:t>
            </a:r>
            <a:r>
              <a:rPr sz="1050" b="1" i="0" dirty="0" err="1">
                <a:solidFill>
                  <a:srgbClr val="222831"/>
                </a:solidFill>
                <a:latin typeface="Malgun Gothic"/>
                <a:cs typeface="Malgun Gothic"/>
              </a:rPr>
              <a:t>라이브러리로</a:t>
            </a:r>
            <a:r>
              <a:rPr sz="1050" b="1" i="0" dirty="0">
                <a:solidFill>
                  <a:srgbClr val="222831"/>
                </a:solidFill>
                <a:latin typeface="Malgun Gothic"/>
                <a:cs typeface="Malgun Gothic"/>
              </a:rPr>
              <a:t> </a:t>
            </a:r>
            <a:r>
              <a:rPr sz="1050" b="1" i="0" dirty="0" err="1">
                <a:solidFill>
                  <a:srgbClr val="222831"/>
                </a:solidFill>
                <a:latin typeface="Malgun Gothic"/>
                <a:cs typeface="Malgun Gothic"/>
              </a:rPr>
              <a:t>측정</a:t>
            </a:r>
            <a:r>
              <a:rPr sz="1050" b="1" i="0" dirty="0">
                <a:solidFill>
                  <a:srgbClr val="222831"/>
                </a:solidFill>
                <a:latin typeface="Malgun Gothic"/>
                <a:cs typeface="Malgun Gothic"/>
              </a:rPr>
              <a:t>
</a:t>
            </a:r>
            <a:r>
              <a:rPr sz="1050" b="1" i="0" dirty="0" err="1">
                <a:solidFill>
                  <a:srgbClr val="222831"/>
                </a:solidFill>
                <a:latin typeface="Malgun Gothic"/>
                <a:cs typeface="Malgun Gothic"/>
              </a:rPr>
              <a:t>CadQuery</a:t>
            </a:r>
            <a:r>
              <a:rPr sz="1050" b="1" i="0" dirty="0">
                <a:solidFill>
                  <a:srgbClr val="222831"/>
                </a:solidFill>
                <a:latin typeface="Malgun Gothic"/>
                <a:cs typeface="Malgun Gothic"/>
              </a:rPr>
              <a:t> · </a:t>
            </a:r>
            <a:r>
              <a:rPr sz="1050" b="1" i="0" dirty="0" err="1">
                <a:solidFill>
                  <a:srgbClr val="222831"/>
                </a:solidFill>
                <a:latin typeface="Malgun Gothic"/>
                <a:cs typeface="Malgun Gothic"/>
              </a:rPr>
              <a:t>trimesh</a:t>
            </a:r>
            <a:r>
              <a:rPr sz="1050" b="1" i="0" dirty="0">
                <a:solidFill>
                  <a:srgbClr val="222831"/>
                </a:solidFill>
                <a:latin typeface="Malgun Gothic"/>
                <a:cs typeface="Malgun Gothic"/>
              </a:rPr>
              <a:t> · </a:t>
            </a:r>
            <a:r>
              <a:rPr sz="1050" b="1" i="0" dirty="0" err="1">
                <a:solidFill>
                  <a:srgbClr val="222831"/>
                </a:solidFill>
                <a:latin typeface="Malgun Gothic"/>
                <a:cs typeface="Malgun Gothic"/>
              </a:rPr>
              <a:t>numpy</a:t>
            </a:r>
            <a:endParaRPr sz="1050" b="1" i="0" dirty="0">
              <a:solidFill>
                <a:srgbClr val="222831"/>
              </a:solidFill>
              <a:latin typeface="Malgun Gothic"/>
              <a:cs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07407" y="1664208"/>
            <a:ext cx="338328" cy="84124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100" b="0" i="0">
                <a:solidFill>
                  <a:srgbClr val="97A0AC"/>
                </a:solidFill>
                <a:latin typeface="Malgun Gothic"/>
                <a:cs typeface="Malgun Gothic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18304" y="1664208"/>
            <a:ext cx="1847088" cy="841248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18304" y="1664208"/>
            <a:ext cx="1847088" cy="84124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ts val="1300"/>
              </a:lnSpc>
            </a:pPr>
            <a:r>
              <a:rPr sz="1050" b="1" i="0" dirty="0" err="1">
                <a:solidFill>
                  <a:srgbClr val="222831"/>
                </a:solidFill>
                <a:latin typeface="Malgun Gothic"/>
                <a:cs typeface="Malgun Gothic"/>
              </a:rPr>
              <a:t>시그니처</a:t>
            </a:r>
            <a:r>
              <a:rPr sz="1050" b="1" i="0" dirty="0">
                <a:solidFill>
                  <a:srgbClr val="222831"/>
                </a:solidFill>
                <a:latin typeface="Malgun Gothic"/>
                <a:cs typeface="Malgun Gothic"/>
              </a:rPr>
              <a:t> </a:t>
            </a:r>
            <a:r>
              <a:rPr sz="1050" b="1" i="0" dirty="0" err="1">
                <a:solidFill>
                  <a:srgbClr val="222831"/>
                </a:solidFill>
                <a:latin typeface="Malgun Gothic"/>
                <a:cs typeface="Malgun Gothic"/>
              </a:rPr>
              <a:t>추출</a:t>
            </a:r>
            <a:r>
              <a:rPr sz="1050" b="1" i="0" dirty="0">
                <a:solidFill>
                  <a:srgbClr val="222831"/>
                </a:solidFill>
                <a:latin typeface="Malgun Gothic"/>
                <a:cs typeface="Malgun Gothic"/>
              </a:rPr>
              <a:t>
</a:t>
            </a:r>
            <a:r>
              <a:rPr sz="1050" b="1" i="0" dirty="0" err="1">
                <a:solidFill>
                  <a:srgbClr val="222831"/>
                </a:solidFill>
                <a:latin typeface="Malgun Gothic"/>
                <a:cs typeface="Malgun Gothic"/>
              </a:rPr>
              <a:t>부품수·구멍·비율·채움비·연결</a:t>
            </a:r>
            <a:endParaRPr sz="1050" b="1" i="0" dirty="0">
              <a:solidFill>
                <a:srgbClr val="222831"/>
              </a:solidFill>
              <a:latin typeface="Malgun Gothic"/>
              <a:cs typeface="Malgun Gothi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37959" y="1664208"/>
            <a:ext cx="338328" cy="84124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100" b="0" i="0">
                <a:solidFill>
                  <a:srgbClr val="97A0AC"/>
                </a:solidFill>
                <a:latin typeface="Malgun Gothic"/>
                <a:cs typeface="Malgun Gothic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48856" y="1664208"/>
            <a:ext cx="1847088" cy="841248"/>
          </a:xfrm>
          <a:prstGeom prst="roundRect">
            <a:avLst>
              <a:gd name="adj" fmla="val 6000"/>
            </a:avLst>
          </a:prstGeom>
          <a:solidFill>
            <a:srgbClr val="1C6FC9"/>
          </a:solidFill>
          <a:ln w="12700">
            <a:solidFill>
              <a:srgbClr val="1C6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48856" y="1664208"/>
            <a:ext cx="1847088" cy="84124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>
              <a:lnSpc>
                <a:spcPts val="1300"/>
              </a:lnSpc>
            </a:pPr>
            <a:r>
              <a:rPr sz="1050" b="1" i="0" dirty="0" err="1">
                <a:solidFill>
                  <a:srgbClr val="FFFFFF"/>
                </a:solidFill>
                <a:latin typeface="Malgun Gothic"/>
                <a:cs typeface="Malgun Gothic"/>
              </a:rPr>
              <a:t>생성물도</a:t>
            </a:r>
            <a:r>
              <a:rPr sz="1050" b="1" i="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050" b="1" i="0" dirty="0" err="1">
                <a:solidFill>
                  <a:srgbClr val="FFFFFF"/>
                </a:solidFill>
                <a:latin typeface="Malgun Gothic"/>
                <a:cs typeface="Malgun Gothic"/>
              </a:rPr>
              <a:t>동일</a:t>
            </a:r>
            <a:r>
              <a:rPr sz="1050" b="1" i="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050" b="1" i="0" dirty="0" err="1">
                <a:solidFill>
                  <a:srgbClr val="FFFFFF"/>
                </a:solidFill>
                <a:latin typeface="Malgun Gothic"/>
                <a:cs typeface="Malgun Gothic"/>
              </a:rPr>
              <a:t>측정</a:t>
            </a:r>
            <a:r>
              <a:rPr sz="1050" b="1" i="0" dirty="0">
                <a:solidFill>
                  <a:srgbClr val="FFFFFF"/>
                </a:solidFill>
                <a:latin typeface="Malgun Gothic"/>
                <a:cs typeface="Malgun Gothic"/>
              </a:rPr>
              <a:t>
→ </a:t>
            </a:r>
            <a:r>
              <a:rPr sz="1050" b="1" i="0" dirty="0" err="1">
                <a:solidFill>
                  <a:srgbClr val="FFFFFF"/>
                </a:solidFill>
                <a:latin typeface="Malgun Gothic"/>
                <a:cs typeface="Malgun Gothic"/>
              </a:rPr>
              <a:t>허용오차</a:t>
            </a:r>
            <a:r>
              <a:rPr sz="1050" b="1" i="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050" b="1" i="0" dirty="0" err="1">
                <a:solidFill>
                  <a:srgbClr val="FFFFFF"/>
                </a:solidFill>
                <a:latin typeface="Malgun Gothic"/>
                <a:cs typeface="Malgun Gothic"/>
              </a:rPr>
              <a:t>내</a:t>
            </a:r>
            <a:r>
              <a:rPr sz="1050" b="1" i="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050" b="1" i="0" dirty="0" err="1">
                <a:solidFill>
                  <a:srgbClr val="FFFFFF"/>
                </a:solidFill>
                <a:latin typeface="Malgun Gothic"/>
                <a:cs typeface="Malgun Gothic"/>
              </a:rPr>
              <a:t>일치</a:t>
            </a:r>
            <a:r>
              <a:rPr sz="1050" b="1" i="0" dirty="0">
                <a:solidFill>
                  <a:srgbClr val="FFFFFF"/>
                </a:solidFill>
                <a:latin typeface="Malgun Gothic"/>
                <a:cs typeface="Malgun Gothic"/>
              </a:rPr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61488"/>
            <a:ext cx="1234440" cy="416052"/>
          </a:xfrm>
          <a:prstGeom prst="rect">
            <a:avLst/>
          </a:prstGeom>
          <a:solidFill>
            <a:srgbClr val="134E96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064" y="2761488"/>
            <a:ext cx="1124712" cy="4160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Malgun Gothic"/>
                <a:cs typeface="Malgun Gothic"/>
              </a:rPr>
              <a:t>항목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2761488"/>
            <a:ext cx="4892040" cy="416052"/>
          </a:xfrm>
          <a:prstGeom prst="rect">
            <a:avLst/>
          </a:prstGeom>
          <a:solidFill>
            <a:srgbClr val="134E96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46504" y="2761488"/>
            <a:ext cx="4782312" cy="4160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algun Gothic"/>
                <a:cs typeface="Malgun Gothic"/>
              </a:rPr>
              <a:t>무엇을 · 어떻게 측정하나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79" y="2761488"/>
            <a:ext cx="2103120" cy="416052"/>
          </a:xfrm>
          <a:prstGeom prst="rect">
            <a:avLst/>
          </a:prstGeom>
          <a:solidFill>
            <a:srgbClr val="134E96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38543" y="2761488"/>
            <a:ext cx="1993391" cy="4160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Malgun Gothic"/>
                <a:cs typeface="Malgun Gothic"/>
              </a:rPr>
              <a:t>판정 기준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77540"/>
            <a:ext cx="1234440" cy="41605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4" y="3177540"/>
            <a:ext cx="1124712" cy="4160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100" b="1" i="0">
                <a:solidFill>
                  <a:srgbClr val="222831"/>
                </a:solidFill>
                <a:latin typeface="Malgun Gothic"/>
                <a:cs typeface="Malgun Gothic"/>
              </a:rPr>
              <a:t>R1 유효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3177540"/>
            <a:ext cx="4892040" cy="4160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46504" y="3177540"/>
            <a:ext cx="4782312" cy="4160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Malgun Gothic"/>
                <a:cs typeface="Malgun Gothic"/>
              </a:rPr>
              <a:t>watertight solid 인가  ·  trimesh (is_watertight, volume&gt;0)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79" y="3177540"/>
            <a:ext cx="2103120" cy="4160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38543" y="3177540"/>
            <a:ext cx="1993391" cy="4160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 i="0">
                <a:solidFill>
                  <a:srgbClr val="134E96"/>
                </a:solidFill>
                <a:latin typeface="Malgun Gothic"/>
                <a:cs typeface="Malgun Gothic"/>
              </a:rPr>
              <a:t>유효해야 통과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93592"/>
            <a:ext cx="1234440" cy="41605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3593592"/>
            <a:ext cx="1124712" cy="4160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100" b="1" i="0">
                <a:solidFill>
                  <a:srgbClr val="222831"/>
                </a:solidFill>
                <a:latin typeface="Malgun Gothic"/>
                <a:cs typeface="Malgun Gothic"/>
              </a:rPr>
              <a:t>R2 부품수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91640" y="3593592"/>
            <a:ext cx="4892040" cy="4160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746504" y="3593592"/>
            <a:ext cx="4782312" cy="4160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Malgun Gothic"/>
                <a:cs typeface="Malgun Gothic"/>
              </a:rPr>
              <a:t>solid 개수  ·  CadQuery/OpenCASCADE (r.solids())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79" y="3593592"/>
            <a:ext cx="2103120" cy="4160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38543" y="3593592"/>
            <a:ext cx="1993391" cy="4160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 i="0">
                <a:solidFill>
                  <a:srgbClr val="134E96"/>
                </a:solidFill>
                <a:latin typeface="Malgun Gothic"/>
                <a:cs typeface="Malgun Gothic"/>
              </a:rPr>
              <a:t>GT와 동일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09644"/>
            <a:ext cx="1234440" cy="41605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691640" y="4009644"/>
            <a:ext cx="4892040" cy="4160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83679" y="4009644"/>
            <a:ext cx="2103120" cy="4160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57200" y="4425696"/>
            <a:ext cx="1234440" cy="41605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2064" y="4425696"/>
            <a:ext cx="1124712" cy="4160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100" b="1" i="0">
                <a:solidFill>
                  <a:srgbClr val="222831"/>
                </a:solidFill>
                <a:latin typeface="Malgun Gothic"/>
                <a:cs typeface="Malgun Gothic"/>
              </a:rPr>
              <a:t>R4 비율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91640" y="4425696"/>
            <a:ext cx="4892040" cy="4160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746504" y="4425696"/>
            <a:ext cx="4782312" cy="4160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Malgun Gothic"/>
                <a:cs typeface="Malgun Gothic"/>
              </a:rPr>
              <a:t>바운딩박스 축비  ·  trimesh (extents 정규화)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79" y="4425696"/>
            <a:ext cx="2103120" cy="4160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38543" y="4425696"/>
            <a:ext cx="1993391" cy="4160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 i="0">
                <a:solidFill>
                  <a:srgbClr val="134E96"/>
                </a:solidFill>
                <a:latin typeface="Malgun Gothic"/>
                <a:cs typeface="Malgun Gothic"/>
              </a:rPr>
              <a:t>차이 ≤ 0.20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841748"/>
            <a:ext cx="1234440" cy="41605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2064" y="4841748"/>
            <a:ext cx="1124712" cy="4160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100" b="1" i="0">
                <a:solidFill>
                  <a:srgbClr val="222831"/>
                </a:solidFill>
                <a:latin typeface="Malgun Gothic"/>
                <a:cs typeface="Malgun Gothic"/>
              </a:rPr>
              <a:t>R5 중공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91640" y="4841748"/>
            <a:ext cx="4892040" cy="4160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746504" y="4841748"/>
            <a:ext cx="4782312" cy="4160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Malgun Gothic"/>
                <a:cs typeface="Malgun Gothic"/>
              </a:rPr>
              <a:t>채움비 = 부피/박스부피  ·  trimesh (volume)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79" y="4841748"/>
            <a:ext cx="2103120" cy="4160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38543" y="4841748"/>
            <a:ext cx="1993391" cy="4160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 i="0">
                <a:solidFill>
                  <a:srgbClr val="134E96"/>
                </a:solidFill>
                <a:latin typeface="Malgun Gothic"/>
                <a:cs typeface="Malgun Gothic"/>
              </a:rPr>
              <a:t>차이 ≤ 0.15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257800"/>
            <a:ext cx="1234440" cy="41605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2064" y="5257800"/>
            <a:ext cx="1124712" cy="4160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100" b="1" i="0">
                <a:solidFill>
                  <a:srgbClr val="222831"/>
                </a:solidFill>
                <a:latin typeface="Malgun Gothic"/>
                <a:cs typeface="Malgun Gothic"/>
              </a:rPr>
              <a:t>R6 연결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91640" y="5257800"/>
            <a:ext cx="4892040" cy="4160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746504" y="5257800"/>
            <a:ext cx="4782312" cy="4160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Malgun Gothic"/>
                <a:cs typeface="Malgun Gothic"/>
              </a:rPr>
              <a:t>붙어있는 덩어리 수  ·  trimesh (mesh.split)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79" y="5257800"/>
            <a:ext cx="2103120" cy="4160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38543" y="5257800"/>
            <a:ext cx="1993391" cy="4160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 i="0">
                <a:solidFill>
                  <a:srgbClr val="134E96"/>
                </a:solidFill>
                <a:latin typeface="Malgun Gothic"/>
                <a:cs typeface="Malgun Gothic"/>
              </a:rPr>
              <a:t>GT와 동일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989320"/>
            <a:ext cx="8229600" cy="566928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8368" y="6167627"/>
            <a:ext cx="7827264" cy="21031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00" b="1" i="0" dirty="0" err="1">
                <a:solidFill>
                  <a:srgbClr val="134E96"/>
                </a:solidFill>
                <a:latin typeface="Malgun Gothic"/>
                <a:cs typeface="Malgun Gothic"/>
              </a:rPr>
              <a:t>세</a:t>
            </a:r>
            <a:r>
              <a:rPr sz="1200" b="1" i="0" dirty="0">
                <a:solidFill>
                  <a:srgbClr val="134E96"/>
                </a:solidFill>
                <a:latin typeface="Malgun Gothic"/>
                <a:cs typeface="Malgun Gothic"/>
              </a:rPr>
              <a:t> </a:t>
            </a:r>
            <a:r>
              <a:rPr sz="1200" b="1" i="0" dirty="0" err="1">
                <a:solidFill>
                  <a:srgbClr val="134E96"/>
                </a:solidFill>
                <a:latin typeface="Malgun Gothic"/>
                <a:cs typeface="Malgun Gothic"/>
              </a:rPr>
              <a:t>지표</a:t>
            </a:r>
            <a:r>
              <a:rPr sz="1200" b="1" i="0" dirty="0">
                <a:solidFill>
                  <a:srgbClr val="134E96"/>
                </a:solidFill>
                <a:latin typeface="Malgun Gothic"/>
                <a:cs typeface="Malgun Gothic"/>
              </a:rPr>
              <a:t> </a:t>
            </a:r>
            <a:r>
              <a:rPr sz="1200" b="1" i="0" dirty="0" err="1">
                <a:solidFill>
                  <a:srgbClr val="134E96"/>
                </a:solidFill>
                <a:latin typeface="Malgun Gothic"/>
                <a:cs typeface="Malgun Gothic"/>
              </a:rPr>
              <a:t>중</a:t>
            </a:r>
            <a:r>
              <a:rPr sz="1200" b="1" i="0" dirty="0">
                <a:solidFill>
                  <a:srgbClr val="134E96"/>
                </a:solidFill>
                <a:latin typeface="Malgun Gothic"/>
                <a:cs typeface="Malgun Gothic"/>
              </a:rPr>
              <a:t> </a:t>
            </a:r>
            <a:r>
              <a:rPr sz="1200" b="1" i="0" dirty="0" err="1">
                <a:solidFill>
                  <a:srgbClr val="134E96"/>
                </a:solidFill>
                <a:latin typeface="Malgun Gothic"/>
                <a:cs typeface="Malgun Gothic"/>
              </a:rPr>
              <a:t>코드로</a:t>
            </a:r>
            <a:r>
              <a:rPr sz="1200" b="1" i="0" dirty="0">
                <a:solidFill>
                  <a:srgbClr val="134E96"/>
                </a:solidFill>
                <a:latin typeface="Malgun Gothic"/>
                <a:cs typeface="Malgun Gothic"/>
              </a:rPr>
              <a:t> </a:t>
            </a:r>
            <a:r>
              <a:rPr sz="1200" b="1" i="0" dirty="0" err="1">
                <a:solidFill>
                  <a:srgbClr val="134E96"/>
                </a:solidFill>
                <a:latin typeface="Malgun Gothic"/>
                <a:cs typeface="Malgun Gothic"/>
              </a:rPr>
              <a:t>계산</a:t>
            </a:r>
            <a:r>
              <a:rPr sz="1200" b="1" i="0" dirty="0">
                <a:solidFill>
                  <a:srgbClr val="134E96"/>
                </a:solidFill>
                <a:latin typeface="Malgun Gothic"/>
                <a:cs typeface="Malgun Gothic"/>
              </a:rPr>
              <a:t>: </a:t>
            </a:r>
            <a:r>
              <a:rPr sz="1200" b="1" i="0" dirty="0">
                <a:solidFill>
                  <a:srgbClr val="222222"/>
                </a:solidFill>
                <a:latin typeface="Malgun Gothic"/>
                <a:cs typeface="Malgun Gothic"/>
              </a:rPr>
              <a:t>① Voxel </a:t>
            </a:r>
            <a:r>
              <a:rPr sz="1200" b="1" i="0" dirty="0" err="1">
                <a:solidFill>
                  <a:srgbClr val="222222"/>
                </a:solidFill>
                <a:latin typeface="Malgun Gothic"/>
                <a:cs typeface="Malgun Gothic"/>
              </a:rPr>
              <a:t>IoU</a:t>
            </a:r>
            <a:r>
              <a:rPr sz="1200" b="1" i="0" dirty="0">
                <a:solidFill>
                  <a:srgbClr val="222222"/>
                </a:solidFill>
                <a:latin typeface="Malgun Gothic"/>
                <a:cs typeface="Malgun Gothic"/>
              </a:rPr>
              <a:t> · ② </a:t>
            </a:r>
            <a:r>
              <a:rPr sz="1200" b="1" i="0" dirty="0" err="1">
                <a:solidFill>
                  <a:srgbClr val="222222"/>
                </a:solidFill>
                <a:latin typeface="Malgun Gothic"/>
                <a:cs typeface="Malgun Gothic"/>
              </a:rPr>
              <a:t>요구조건</a:t>
            </a:r>
            <a:r>
              <a:rPr sz="1200" b="1" i="0" dirty="0">
                <a:solidFill>
                  <a:srgbClr val="222222"/>
                </a:solidFill>
                <a:latin typeface="Malgun Gothic"/>
                <a:cs typeface="Malgun Gothic"/>
              </a:rPr>
              <a:t> </a:t>
            </a:r>
            <a:r>
              <a:rPr sz="1200" b="1" i="0" dirty="0" err="1">
                <a:solidFill>
                  <a:srgbClr val="222222"/>
                </a:solidFill>
                <a:latin typeface="Malgun Gothic"/>
                <a:cs typeface="Malgun Gothic"/>
              </a:rPr>
              <a:t>만족률</a:t>
            </a:r>
            <a:r>
              <a:rPr sz="1200" b="0" i="0" dirty="0">
                <a:solidFill>
                  <a:srgbClr val="222222"/>
                </a:solidFill>
                <a:latin typeface="Malgun Gothic"/>
                <a:cs typeface="Malgun Gothic"/>
              </a:rPr>
              <a:t>   </a:t>
            </a:r>
            <a:r>
              <a:rPr sz="1200" b="1" i="0" dirty="0">
                <a:solidFill>
                  <a:srgbClr val="C0392B"/>
                </a:solidFill>
                <a:latin typeface="Malgun Gothic"/>
                <a:cs typeface="Malgun Gothic"/>
              </a:rPr>
              <a:t>③ VLM </a:t>
            </a:r>
            <a:r>
              <a:rPr sz="1200" b="1" i="0" dirty="0" err="1">
                <a:solidFill>
                  <a:srgbClr val="C0392B"/>
                </a:solidFill>
                <a:latin typeface="Malgun Gothic"/>
                <a:cs typeface="Malgun Gothic"/>
              </a:rPr>
              <a:t>심판</a:t>
            </a:r>
            <a:r>
              <a:rPr sz="1200" b="1" i="0" dirty="0">
                <a:solidFill>
                  <a:srgbClr val="C0392B"/>
                </a:solidFill>
                <a:latin typeface="Malgun Gothic"/>
                <a:cs typeface="Malgun Gothic"/>
              </a:rPr>
              <a:t>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0" i="0">
                <a:solidFill>
                  <a:srgbClr val="97A0AC"/>
                </a:solidFill>
                <a:latin typeface="Malgun Gothic"/>
                <a:cs typeface="Malgun Gothic"/>
              </a:rPr>
              <a:t>LLM 기반 3D CAD 생성 평가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58368" y="3291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ABLATION DESIGN · 혼동요인 절제 실험 설계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우위의 원인을 분리하기 위한 두 조건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벡터가 좋은 것은 “모달리티”인가, 벡터에 실린 “정확한 좌표(텍스트)”인가?  아니면 “뷰 개수”인가?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3977640" cy="379476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3뷰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무엇을?</a:t>
            </a:r>
            <a:endParaRPr lang="en-US" sz="125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모달리티에 정투영 3뷰 렌더를 제공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검증?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“뷰 개수”가 벡터 우위의 원인인지 검증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17720" y="2057400"/>
            <a:ext cx="4069080" cy="3794760"/>
          </a:xfrm>
          <a:prstGeom prst="roundRect">
            <a:avLst>
              <a:gd name="adj" fmla="val 1687"/>
            </a:avLst>
          </a:prstGeom>
          <a:solidFill>
            <a:srgbClr val="E8F0FB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846320" y="228600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134E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22860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래스터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46320" y="29718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무엇을?</a:t>
            </a:r>
            <a:endParaRPr lang="en-US" sz="125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SVG를 그림으로 래스터화하여 입력 → 정확한 좌표 텍스트 제거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검증?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“표현 형식”(텍스트 좌표 vs 그림)의 효과를 분리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기반 3D CAD 생성 평가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F1B8716-B700-0388-4E4B-4AE71C45B6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82" t="41918" r="54118" b="28970"/>
          <a:stretch>
            <a:fillRect/>
          </a:stretch>
        </p:blipFill>
        <p:spPr>
          <a:xfrm>
            <a:off x="685800" y="4142232"/>
            <a:ext cx="3108960" cy="124968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970F499-3CC8-FEEB-481C-7BCB37B63B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588" t="23160" r="8471" b="7113"/>
          <a:stretch>
            <a:fillRect/>
          </a:stretch>
        </p:blipFill>
        <p:spPr>
          <a:xfrm>
            <a:off x="5943600" y="4233745"/>
            <a:ext cx="1337457" cy="15635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회전정렬 Voxel IoU — 텍스트 &lt; 이미지 &lt; 벡터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모델 모두 동일한 순서. 상위 모델(pro)에서 벡터 우위가 더 컸다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554480" cy="548640"/>
          </a:xfrm>
          <a:prstGeom prst="rect">
            <a:avLst/>
          </a:prstGeom>
          <a:solidFill>
            <a:srgbClr val="134E96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모달리티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011680" y="1828800"/>
            <a:ext cx="1417320" cy="548640"/>
          </a:xfrm>
          <a:prstGeom prst="rect">
            <a:avLst/>
          </a:prstGeom>
          <a:solidFill>
            <a:srgbClr val="134E96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057400" y="18288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29000" y="1828800"/>
            <a:ext cx="1417320" cy="548640"/>
          </a:xfrm>
          <a:prstGeom prst="rect">
            <a:avLst/>
          </a:prstGeom>
          <a:solidFill>
            <a:srgbClr val="134E96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474720" y="18288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1554480" cy="54864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" y="2377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011680" y="2377440"/>
            <a:ext cx="1417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057400" y="23774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0.239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29000" y="2377440"/>
            <a:ext cx="1417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474720" y="23774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0.280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1554480" cy="54864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2926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011680" y="2926080"/>
            <a:ext cx="1417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057400" y="29260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0.334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429000" y="2926080"/>
            <a:ext cx="1417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474720" y="29260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0.380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1554480" cy="548640"/>
          </a:xfrm>
          <a:prstGeom prst="rect">
            <a:avLst/>
          </a:prstGeom>
          <a:solidFill>
            <a:srgbClr val="E8F0FB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02920" y="3474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011680" y="3474720"/>
            <a:ext cx="1417320" cy="548640"/>
          </a:xfrm>
          <a:prstGeom prst="rect">
            <a:avLst/>
          </a:prstGeom>
          <a:solidFill>
            <a:srgbClr val="E8F0FB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057400" y="34747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0.492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429000" y="3474720"/>
            <a:ext cx="1417320" cy="548640"/>
          </a:xfrm>
          <a:prstGeom prst="rect">
            <a:avLst/>
          </a:prstGeom>
          <a:solidFill>
            <a:srgbClr val="E8F0FB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474720" y="34747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0.673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2. 회전정렬 Voxel IoU (유효분 평균, 0~1)</a:t>
            </a:r>
            <a:endParaRPr lang="en-US" sz="1050" dirty="0"/>
          </a:p>
        </p:txBody>
      </p:sp>
      <p:graphicFrame>
        <p:nvGraphicFramePr>
          <p:cNvPr id="32" name="Chart 0"/>
          <p:cNvGraphicFramePr/>
          <p:nvPr/>
        </p:nvGraphicFramePr>
        <p:xfrm>
          <a:off x="4617720" y="1783080"/>
          <a:ext cx="40690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" name="Text 31"/>
          <p:cNvSpPr/>
          <p:nvPr/>
        </p:nvSpPr>
        <p:spPr>
          <a:xfrm>
            <a:off x="8229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  <p:pic>
        <p:nvPicPr>
          <p:cNvPr id="36" name="Image 0" descr="/Users/jang-young-a/Desktop/test_cad/outputs/poster_assets/grid.png">
            <a:extLst>
              <a:ext uri="{FF2B5EF4-FFF2-40B4-BE49-F238E27FC236}">
                <a16:creationId xmlns:a16="http://schemas.microsoft.com/office/drawing/2014/main" id="{5DEA841D-4A6A-2023-4D33-12F91405D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30" y="4366588"/>
            <a:ext cx="3223540" cy="24182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요구조건</a:t>
            </a:r>
            <a:r>
              <a:rPr lang="en-US" sz="25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만족률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554480" cy="548640"/>
          </a:xfrm>
          <a:prstGeom prst="rect">
            <a:avLst/>
          </a:prstGeom>
          <a:solidFill>
            <a:srgbClr val="134E96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모달리티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011680" y="1874520"/>
            <a:ext cx="1417320" cy="548640"/>
          </a:xfrm>
          <a:prstGeom prst="rect">
            <a:avLst/>
          </a:prstGeom>
          <a:solidFill>
            <a:srgbClr val="134E96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057400" y="18745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29000" y="1874520"/>
            <a:ext cx="1417320" cy="548640"/>
          </a:xfrm>
          <a:prstGeom prst="rect">
            <a:avLst/>
          </a:prstGeom>
          <a:solidFill>
            <a:srgbClr val="134E96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474720" y="18745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1554480" cy="54864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011680" y="2423160"/>
            <a:ext cx="1417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057400" y="24231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38%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29000" y="2423160"/>
            <a:ext cx="1417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474720" y="24231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1554480" cy="54864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2971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011680" y="2971800"/>
            <a:ext cx="1417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057400" y="29718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73%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429000" y="2971800"/>
            <a:ext cx="1417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474720" y="29718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72%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1554480" cy="548640"/>
          </a:xfrm>
          <a:prstGeom prst="rect">
            <a:avLst/>
          </a:prstGeom>
          <a:solidFill>
            <a:srgbClr val="E8F0FB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02920" y="3520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011680" y="3520440"/>
            <a:ext cx="1417320" cy="548640"/>
          </a:xfrm>
          <a:prstGeom prst="rect">
            <a:avLst/>
          </a:prstGeom>
          <a:solidFill>
            <a:srgbClr val="E8F0FB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057400" y="35204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73%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429000" y="3520440"/>
            <a:ext cx="1417320" cy="548640"/>
          </a:xfrm>
          <a:prstGeom prst="rect">
            <a:avLst/>
          </a:prstGeom>
          <a:solidFill>
            <a:srgbClr val="E8F0FB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474720" y="35204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87%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4160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4. 요구조건 만족률 (R1·R2·R4·R5·R6 평균)</a:t>
            </a:r>
            <a:endParaRPr lang="en-US" sz="105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4617720" y="1783080"/>
          <a:ext cx="40690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" name="Text 32"/>
          <p:cNvSpPr/>
          <p:nvPr/>
        </p:nvSpPr>
        <p:spPr>
          <a:xfrm>
            <a:off x="8229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DD37EF0-6CF4-05DC-26C8-12DF9C168668}"/>
              </a:ext>
            </a:extLst>
          </p:cNvPr>
          <p:cNvSpPr txBox="1"/>
          <p:nvPr/>
        </p:nvSpPr>
        <p:spPr>
          <a:xfrm>
            <a:off x="2880360" y="841692"/>
            <a:ext cx="45720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(R1 </a:t>
            </a:r>
            <a:r>
              <a:rPr lang="en-US" altLang="ko-KR" sz="115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</a:t>
            </a:r>
            <a:r>
              <a:rPr lang="en-US" altLang="ko-KR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solid · R2 </a:t>
            </a:r>
            <a:r>
              <a:rPr lang="en-US" altLang="ko-KR" sz="115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부품수</a:t>
            </a:r>
            <a:r>
              <a:rPr lang="en-US" altLang="ko-KR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R4 </a:t>
            </a:r>
            <a:r>
              <a:rPr lang="en-US" altLang="ko-KR" sz="115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</a:t>
            </a:r>
            <a:r>
              <a:rPr lang="en-US" altLang="ko-KR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R5 </a:t>
            </a:r>
            <a:r>
              <a:rPr lang="en-US" altLang="ko-KR" sz="115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중공</a:t>
            </a:r>
            <a:r>
              <a:rPr lang="en-US" altLang="ko-KR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R6 </a:t>
            </a:r>
            <a:r>
              <a:rPr lang="en-US" altLang="ko-KR" sz="115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r>
              <a:rPr lang="en-US" altLang="ko-KR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평균</a:t>
            </a: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58368" y="3291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4.4 · VLM 심판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국소 세부 피처 완성도 — 벡터가 두 모델 모두 최고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형상·요구조건 지표가 놓치는 창문·구멍 수·내부 벽을 VLM </a:t>
            </a:r>
            <a:r>
              <a:rPr lang="en-US" sz="125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심판으로</a:t>
            </a: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52400" y="1874520"/>
            <a:ext cx="1554480" cy="548640"/>
          </a:xfrm>
          <a:prstGeom prst="rect">
            <a:avLst/>
          </a:prstGeom>
          <a:solidFill>
            <a:srgbClr val="134E96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98120" y="1874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모달리티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706880" y="1874520"/>
            <a:ext cx="1600200" cy="548640"/>
          </a:xfrm>
          <a:prstGeom prst="rect">
            <a:avLst/>
          </a:prstGeom>
          <a:solidFill>
            <a:srgbClr val="134E96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752600" y="18745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flash 특징%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07080" y="1874520"/>
            <a:ext cx="1600200" cy="548640"/>
          </a:xfrm>
          <a:prstGeom prst="rect">
            <a:avLst/>
          </a:prstGeom>
          <a:solidFill>
            <a:srgbClr val="134E96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52800" y="18745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특징%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52400" y="2423160"/>
            <a:ext cx="1554480" cy="54864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98120" y="24231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706880" y="2423160"/>
            <a:ext cx="1600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752600" y="24231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61.9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307080" y="2423160"/>
            <a:ext cx="1600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352800" y="24231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51.6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52400" y="2971800"/>
            <a:ext cx="1554480" cy="54864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98120" y="2971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706880" y="2971800"/>
            <a:ext cx="1600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752600" y="29718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58.4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307080" y="2971800"/>
            <a:ext cx="1600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352800" y="29718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58.5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52400" y="3520440"/>
            <a:ext cx="1554480" cy="548640"/>
          </a:xfrm>
          <a:prstGeom prst="rect">
            <a:avLst/>
          </a:prstGeom>
          <a:solidFill>
            <a:srgbClr val="E8F0FB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98120" y="3520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706880" y="3520440"/>
            <a:ext cx="1600200" cy="548640"/>
          </a:xfrm>
          <a:prstGeom prst="rect">
            <a:avLst/>
          </a:prstGeom>
          <a:solidFill>
            <a:srgbClr val="E8F0FB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752600" y="35204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68.5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307080" y="3520440"/>
            <a:ext cx="1600200" cy="548640"/>
          </a:xfrm>
          <a:prstGeom prst="rect">
            <a:avLst/>
          </a:prstGeom>
          <a:solidFill>
            <a:srgbClr val="E8F0FB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352800" y="35204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78.8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52400" y="4160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5. VLM 심판 특징 완성도 (20부품 평균)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90160" y="1783080"/>
            <a:ext cx="3886200" cy="4160520"/>
          </a:xfrm>
          <a:prstGeom prst="roundRect">
            <a:avLst>
              <a:gd name="adj" fmla="val 164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31876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사례 — box enclosure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18760" y="23042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생성물의 기하 지표는 만점에 가까웠으나 핵심 특징이 통째로 누락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318760" y="2926080"/>
            <a:ext cx="1097280" cy="960120"/>
          </a:xfrm>
          <a:prstGeom prst="roundRect">
            <a:avLst>
              <a:gd name="adj" fmla="val 6667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318760" y="30358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0.937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5318760" y="3547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89192" y="2926080"/>
            <a:ext cx="1097280" cy="960120"/>
          </a:xfrm>
          <a:prstGeom prst="roundRect">
            <a:avLst>
              <a:gd name="adj" fmla="val 6667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489192" y="30358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6489192" y="3547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요구조건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659624" y="2926080"/>
            <a:ext cx="1097280" cy="960120"/>
          </a:xfrm>
          <a:prstGeom prst="roundRect">
            <a:avLst>
              <a:gd name="adj" fmla="val 6667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659624" y="30358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33%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7659624" y="3547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특징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318760" y="411480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창문과 내부 벽이 모두 누락</a:t>
            </a:r>
            <a:endParaRPr lang="en-US" sz="120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박스 외형만 맞아 IoU·요구조건 두 지표가 잡지 못했고, VLM 특징에서 33%로 강등. 기하 지표의 맹점과 VLM 보완의 필요성을 예시한다.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기반 3D CAD 생성 평가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29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47" name="Rounded Rectangle 46"/>
          <p:cNvSpPr/>
          <p:nvPr/>
        </p:nvSpPr>
        <p:spPr>
          <a:xfrm>
            <a:off x="155448" y="5029200"/>
            <a:ext cx="4773168" cy="1371600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 w="12700">
            <a:solidFill>
              <a:srgbClr val="B9C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56616" y="5129784"/>
            <a:ext cx="4370831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250" b="1" i="0">
                <a:solidFill>
                  <a:srgbClr val="134E96"/>
                </a:solidFill>
                <a:latin typeface="Malgun Gothic"/>
                <a:cs typeface="Malgun Gothic"/>
              </a:rPr>
              <a:t>심판에게 준 지시 (프롬프트 요약)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4904" y="5449824"/>
            <a:ext cx="4352544" cy="787395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 dirty="0">
                <a:solidFill>
                  <a:srgbClr val="1C6FC9"/>
                </a:solidFill>
                <a:latin typeface="Malgun Gothic"/>
                <a:cs typeface="Malgun Gothic"/>
              </a:rPr>
              <a:t>▪ </a:t>
            </a:r>
            <a:r>
              <a:rPr sz="1050" b="0" i="0" dirty="0" err="1">
                <a:solidFill>
                  <a:srgbClr val="222222"/>
                </a:solidFill>
                <a:latin typeface="Malgun Gothic"/>
                <a:cs typeface="Malgun Gothic"/>
              </a:rPr>
              <a:t>정답·생성물을</a:t>
            </a:r>
            <a:r>
              <a:rPr sz="1050" b="0" i="0" dirty="0">
                <a:solidFill>
                  <a:srgbClr val="222222"/>
                </a:solidFill>
                <a:latin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Malgun Gothic"/>
                <a:cs typeface="Malgun Gothic"/>
              </a:rPr>
              <a:t>각각</a:t>
            </a:r>
            <a:r>
              <a:rPr sz="1050" b="0" i="0" dirty="0">
                <a:solidFill>
                  <a:srgbClr val="222222"/>
                </a:solidFill>
                <a:latin typeface="Malgun Gothic"/>
                <a:cs typeface="Malgun Gothic"/>
              </a:rPr>
              <a:t> 4방향(2×2 </a:t>
            </a:r>
            <a:r>
              <a:rPr sz="1050" b="0" i="0" dirty="0" err="1">
                <a:solidFill>
                  <a:srgbClr val="222222"/>
                </a:solidFill>
                <a:latin typeface="Malgun Gothic"/>
                <a:cs typeface="Malgun Gothic"/>
              </a:rPr>
              <a:t>멀티뷰</a:t>
            </a:r>
            <a:r>
              <a:rPr sz="1050" b="0" i="0" dirty="0">
                <a:solidFill>
                  <a:srgbClr val="222222"/>
                </a:solidFill>
                <a:latin typeface="Malgun Gothic"/>
                <a:cs typeface="Malgun Gothic"/>
              </a:rPr>
              <a:t>) </a:t>
            </a:r>
            <a:r>
              <a:rPr sz="1050" b="0" i="0" dirty="0" err="1">
                <a:solidFill>
                  <a:srgbClr val="222222"/>
                </a:solidFill>
                <a:latin typeface="Malgun Gothic"/>
                <a:cs typeface="Malgun Gothic"/>
              </a:rPr>
              <a:t>렌더로</a:t>
            </a:r>
            <a:r>
              <a:rPr sz="1050" b="0" i="0" dirty="0">
                <a:solidFill>
                  <a:srgbClr val="222222"/>
                </a:solidFill>
                <a:latin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Malgun Gothic"/>
                <a:cs typeface="Malgun Gothic"/>
              </a:rPr>
              <a:t>제시</a:t>
            </a:r>
            <a:endParaRPr sz="1050" b="0" i="0" dirty="0">
              <a:solidFill>
                <a:srgbClr val="222222"/>
              </a:solidFill>
              <a:latin typeface="Malgun Gothic"/>
              <a:cs typeface="Malgun Gothic"/>
            </a:endParaRPr>
          </a:p>
          <a:p>
            <a:pPr algn="l">
              <a:spcAft>
                <a:spcPts val="300"/>
              </a:spcAft>
            </a:pPr>
            <a:r>
              <a:rPr sz="1050" b="1" i="0" dirty="0">
                <a:solidFill>
                  <a:srgbClr val="1C6FC9"/>
                </a:solidFill>
                <a:latin typeface="Malgun Gothic"/>
                <a:cs typeface="Malgun Gothic"/>
              </a:rPr>
              <a:t>▪ </a:t>
            </a:r>
            <a:r>
              <a:rPr sz="1050" b="0" i="0" dirty="0" err="1">
                <a:solidFill>
                  <a:srgbClr val="222222"/>
                </a:solidFill>
                <a:latin typeface="Malgun Gothic"/>
                <a:cs typeface="Malgun Gothic"/>
              </a:rPr>
              <a:t>위치·개수까지</a:t>
            </a:r>
            <a:r>
              <a:rPr sz="1050" b="0" i="0" dirty="0">
                <a:solidFill>
                  <a:srgbClr val="222222"/>
                </a:solidFill>
                <a:latin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Malgun Gothic"/>
                <a:cs typeface="Malgun Gothic"/>
              </a:rPr>
              <a:t>맞게</a:t>
            </a:r>
            <a:r>
              <a:rPr sz="1050" b="0" i="0" dirty="0">
                <a:solidFill>
                  <a:srgbClr val="222222"/>
                </a:solidFill>
                <a:latin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Malgun Gothic"/>
                <a:cs typeface="Malgun Gothic"/>
              </a:rPr>
              <a:t>명확히</a:t>
            </a:r>
            <a:r>
              <a:rPr sz="1050" b="0" i="0" dirty="0">
                <a:solidFill>
                  <a:srgbClr val="222222"/>
                </a:solidFill>
                <a:latin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Malgun Gothic"/>
                <a:cs typeface="Malgun Gothic"/>
              </a:rPr>
              <a:t>보일</a:t>
            </a:r>
            <a:r>
              <a:rPr sz="1050" b="0" i="0" dirty="0">
                <a:solidFill>
                  <a:srgbClr val="222222"/>
                </a:solidFill>
                <a:latin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Malgun Gothic"/>
                <a:cs typeface="Malgun Gothic"/>
              </a:rPr>
              <a:t>때만</a:t>
            </a:r>
            <a:r>
              <a:rPr sz="1050" b="0" i="0" dirty="0">
                <a:solidFill>
                  <a:srgbClr val="222222"/>
                </a:solidFill>
                <a:latin typeface="Malgun Gothic"/>
                <a:cs typeface="Malgun Gothic"/>
              </a:rPr>
              <a:t> “</a:t>
            </a:r>
            <a:r>
              <a:rPr sz="1050" b="0" i="0" dirty="0" err="1">
                <a:solidFill>
                  <a:srgbClr val="222222"/>
                </a:solidFill>
                <a:latin typeface="Malgun Gothic"/>
                <a:cs typeface="Malgun Gothic"/>
              </a:rPr>
              <a:t>있음</a:t>
            </a:r>
            <a:r>
              <a:rPr sz="1050" b="0" i="0" dirty="0">
                <a:solidFill>
                  <a:srgbClr val="222222"/>
                </a:solidFill>
                <a:latin typeface="Malgun Gothic"/>
                <a:cs typeface="Malgun Gothic"/>
              </a:rPr>
              <a:t>(present</a:t>
            </a:r>
            <a:r>
              <a:rPr lang="en-US" altLang="ko-KR" sz="1050" dirty="0">
                <a:solidFill>
                  <a:srgbClr val="222222"/>
                </a:solidFill>
                <a:latin typeface="Malgun Gothic"/>
                <a:cs typeface="Malgun Gothic"/>
              </a:rPr>
              <a:t>)” </a:t>
            </a:r>
            <a:r>
              <a:rPr sz="1050" b="0" i="0" dirty="0" err="1">
                <a:solidFill>
                  <a:srgbClr val="222222"/>
                </a:solidFill>
                <a:latin typeface="Malgun Gothic"/>
                <a:cs typeface="Malgun Gothic"/>
              </a:rPr>
              <a:t>판정</a:t>
            </a:r>
            <a:endParaRPr sz="1050" b="0" i="0" dirty="0">
              <a:solidFill>
                <a:srgbClr val="222222"/>
              </a:solidFill>
              <a:latin typeface="Malgun Gothic"/>
              <a:cs typeface="Malgun Gothic"/>
            </a:endParaRPr>
          </a:p>
          <a:p>
            <a:pPr algn="l">
              <a:spcAft>
                <a:spcPts val="300"/>
              </a:spcAft>
            </a:pPr>
            <a:r>
              <a:rPr sz="1050" b="1" i="0" dirty="0">
                <a:solidFill>
                  <a:srgbClr val="1C6FC9"/>
                </a:solidFill>
                <a:latin typeface="Malgun Gothic"/>
                <a:cs typeface="Malgun Gothic"/>
              </a:rPr>
              <a:t>▪ </a:t>
            </a:r>
            <a:r>
              <a:rPr sz="1050" b="0" i="0" dirty="0" err="1">
                <a:solidFill>
                  <a:srgbClr val="222222"/>
                </a:solidFill>
                <a:latin typeface="Malgun Gothic"/>
                <a:cs typeface="Malgun Gothic"/>
              </a:rPr>
              <a:t>피처별</a:t>
            </a:r>
            <a:r>
              <a:rPr sz="1050" b="0" i="0" dirty="0">
                <a:solidFill>
                  <a:srgbClr val="222222"/>
                </a:solidFill>
                <a:latin typeface="Malgun Gothic"/>
                <a:cs typeface="Malgun Gothic"/>
              </a:rPr>
              <a:t> present / partial / absent + </a:t>
            </a:r>
            <a:r>
              <a:rPr sz="1050" b="0" i="0" dirty="0" err="1">
                <a:solidFill>
                  <a:srgbClr val="222222"/>
                </a:solidFill>
                <a:latin typeface="Malgun Gothic"/>
                <a:cs typeface="Malgun Gothic"/>
              </a:rPr>
              <a:t>전체</a:t>
            </a:r>
            <a:r>
              <a:rPr sz="1050" b="0" i="0" dirty="0">
                <a:solidFill>
                  <a:srgbClr val="222222"/>
                </a:solidFill>
                <a:latin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Malgun Gothic"/>
                <a:cs typeface="Malgun Gothic"/>
              </a:rPr>
              <a:t>일치도</a:t>
            </a:r>
            <a:r>
              <a:rPr sz="1050" b="0" i="0" dirty="0">
                <a:solidFill>
                  <a:srgbClr val="222222"/>
                </a:solidFill>
                <a:latin typeface="Malgun Gothic"/>
                <a:cs typeface="Malgun Gothic"/>
              </a:rPr>
              <a:t>(0~100) </a:t>
            </a:r>
            <a:r>
              <a:rPr sz="1050" b="0" i="0" dirty="0" err="1">
                <a:solidFill>
                  <a:srgbClr val="222222"/>
                </a:solidFill>
                <a:latin typeface="Malgun Gothic"/>
                <a:cs typeface="Malgun Gothic"/>
              </a:rPr>
              <a:t>판정</a:t>
            </a:r>
            <a:endParaRPr sz="1050" b="0" i="0" dirty="0">
              <a:solidFill>
                <a:srgbClr val="222222"/>
              </a:solidFill>
              <a:latin typeface="Malgun Gothic"/>
              <a:cs typeface="Malgun Gothic"/>
            </a:endParaRPr>
          </a:p>
          <a:p>
            <a:pPr algn="l">
              <a:spcAft>
                <a:spcPts val="300"/>
              </a:spcAft>
            </a:pPr>
            <a:r>
              <a:rPr sz="1050" b="1" i="0" dirty="0">
                <a:solidFill>
                  <a:srgbClr val="1C6FC9"/>
                </a:solidFill>
                <a:latin typeface="Malgun Gothic"/>
                <a:cs typeface="Malgun Gothic"/>
              </a:rPr>
              <a:t>▪ </a:t>
            </a:r>
            <a:r>
              <a:rPr sz="1050" b="0" i="0" dirty="0" err="1">
                <a:solidFill>
                  <a:srgbClr val="6B7280"/>
                </a:solidFill>
                <a:latin typeface="Malgun Gothic"/>
                <a:cs typeface="Malgun Gothic"/>
              </a:rPr>
              <a:t>색·렌더</a:t>
            </a:r>
            <a:r>
              <a:rPr sz="1050" b="0" i="0" dirty="0">
                <a:solidFill>
                  <a:srgbClr val="6B7280"/>
                </a:solidFill>
                <a:latin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Malgun Gothic"/>
                <a:cs typeface="Malgun Gothic"/>
              </a:rPr>
              <a:t>스타일</a:t>
            </a:r>
            <a:r>
              <a:rPr sz="1050" b="0" i="0" dirty="0">
                <a:solidFill>
                  <a:srgbClr val="6B7280"/>
                </a:solidFill>
                <a:latin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Malgun Gothic"/>
                <a:cs typeface="Malgun Gothic"/>
              </a:rPr>
              <a:t>무시</a:t>
            </a:r>
            <a:endParaRPr sz="1050" b="0" i="0" dirty="0">
              <a:solidFill>
                <a:srgbClr val="6B7280"/>
              </a:solidFill>
              <a:latin typeface="Malgun Gothic"/>
              <a:cs typeface="Malgun Gothic"/>
            </a:endParaRPr>
          </a:p>
        </p:txBody>
      </p:sp>
      <p:pic>
        <p:nvPicPr>
          <p:cNvPr id="52" name="Image 0" descr="/Users/jang-young-a/Desktop/test_cad/eval/results/_judge_renders/gt_00002574.png">
            <a:extLst>
              <a:ext uri="{FF2B5EF4-FFF2-40B4-BE49-F238E27FC236}">
                <a16:creationId xmlns:a16="http://schemas.microsoft.com/office/drawing/2014/main" id="{5BC5D425-F7BE-B106-EF24-30A0350366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04816" y="5376672"/>
            <a:ext cx="1706880" cy="960120"/>
          </a:xfrm>
          <a:prstGeom prst="rect">
            <a:avLst/>
          </a:prstGeom>
        </p:spPr>
      </p:pic>
      <p:pic>
        <p:nvPicPr>
          <p:cNvPr id="53" name="Image 1" descr="/Users/jang-young-a/Desktop/test_cad/eval/results/_judge_renders/paid_vector_00002574.png">
            <a:extLst>
              <a:ext uri="{FF2B5EF4-FFF2-40B4-BE49-F238E27FC236}">
                <a16:creationId xmlns:a16="http://schemas.microsoft.com/office/drawing/2014/main" id="{B0A79D1B-A394-6A68-AA14-7C86A07176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57416" y="5422392"/>
            <a:ext cx="1706880" cy="960120"/>
          </a:xfrm>
          <a:prstGeom prst="rect">
            <a:avLst/>
          </a:prstGeom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id="{10905D3D-130D-EC8D-FE20-BB6BFFCD35E7}"/>
              </a:ext>
            </a:extLst>
          </p:cNvPr>
          <p:cNvGrpSpPr/>
          <p:nvPr/>
        </p:nvGrpSpPr>
        <p:grpSpPr>
          <a:xfrm>
            <a:off x="152400" y="4102603"/>
            <a:ext cx="2804160" cy="869726"/>
            <a:chOff x="7790688" y="2148840"/>
            <a:chExt cx="3566160" cy="1463040"/>
          </a:xfrm>
        </p:grpSpPr>
        <p:sp>
          <p:nvSpPr>
            <p:cNvPr id="55" name="Text 9">
              <a:extLst>
                <a:ext uri="{FF2B5EF4-FFF2-40B4-BE49-F238E27FC236}">
                  <a16:creationId xmlns:a16="http://schemas.microsoft.com/office/drawing/2014/main" id="{C9882A78-BAD2-1E15-6535-976CDBC92BF6}"/>
                </a:ext>
              </a:extLst>
            </p:cNvPr>
            <p:cNvSpPr/>
            <p:nvPr/>
          </p:nvSpPr>
          <p:spPr>
            <a:xfrm>
              <a:off x="7790688" y="2148840"/>
              <a:ext cx="1280160" cy="365760"/>
            </a:xfrm>
            <a:prstGeom prst="rect">
              <a:avLst/>
            </a:prstGeom>
            <a:solidFill>
              <a:srgbClr val="1667C8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특징</a:t>
              </a:r>
              <a:endParaRPr lang="en-US" sz="1000" dirty="0"/>
            </a:p>
          </p:txBody>
        </p:sp>
        <p:sp>
          <p:nvSpPr>
            <p:cNvPr id="56" name="Text 10">
              <a:extLst>
                <a:ext uri="{FF2B5EF4-FFF2-40B4-BE49-F238E27FC236}">
                  <a16:creationId xmlns:a16="http://schemas.microsoft.com/office/drawing/2014/main" id="{5122644D-A79D-41D9-B40D-18520A82C08A}"/>
                </a:ext>
              </a:extLst>
            </p:cNvPr>
            <p:cNvSpPr/>
            <p:nvPr/>
          </p:nvSpPr>
          <p:spPr>
            <a:xfrm>
              <a:off x="9070848" y="2148840"/>
              <a:ext cx="640080" cy="365760"/>
            </a:xfrm>
            <a:prstGeom prst="rect">
              <a:avLst/>
            </a:prstGeom>
            <a:solidFill>
              <a:srgbClr val="1667C8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정답</a:t>
              </a:r>
              <a:endParaRPr lang="en-US" sz="1000" dirty="0"/>
            </a:p>
          </p:txBody>
        </p:sp>
        <p:sp>
          <p:nvSpPr>
            <p:cNvPr id="57" name="Text 11">
              <a:extLst>
                <a:ext uri="{FF2B5EF4-FFF2-40B4-BE49-F238E27FC236}">
                  <a16:creationId xmlns:a16="http://schemas.microsoft.com/office/drawing/2014/main" id="{B493E1F3-7A67-7CC7-237D-ED055D2B4E7D}"/>
                </a:ext>
              </a:extLst>
            </p:cNvPr>
            <p:cNvSpPr/>
            <p:nvPr/>
          </p:nvSpPr>
          <p:spPr>
            <a:xfrm>
              <a:off x="9710928" y="2148840"/>
              <a:ext cx="777240" cy="365760"/>
            </a:xfrm>
            <a:prstGeom prst="rect">
              <a:avLst/>
            </a:prstGeom>
            <a:solidFill>
              <a:srgbClr val="1667C8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생성물</a:t>
              </a:r>
              <a:endParaRPr lang="en-US" sz="1000" dirty="0"/>
            </a:p>
          </p:txBody>
        </p:sp>
        <p:sp>
          <p:nvSpPr>
            <p:cNvPr id="58" name="Text 12">
              <a:extLst>
                <a:ext uri="{FF2B5EF4-FFF2-40B4-BE49-F238E27FC236}">
                  <a16:creationId xmlns:a16="http://schemas.microsoft.com/office/drawing/2014/main" id="{D6082871-E180-79DD-2DEF-660E62E4E7C8}"/>
                </a:ext>
              </a:extLst>
            </p:cNvPr>
            <p:cNvSpPr/>
            <p:nvPr/>
          </p:nvSpPr>
          <p:spPr>
            <a:xfrm>
              <a:off x="10488168" y="2148840"/>
              <a:ext cx="868680" cy="365760"/>
            </a:xfrm>
            <a:prstGeom prst="rect">
              <a:avLst/>
            </a:prstGeom>
            <a:solidFill>
              <a:srgbClr val="1667C8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판정</a:t>
              </a:r>
              <a:endParaRPr lang="en-US" sz="1000" dirty="0"/>
            </a:p>
          </p:txBody>
        </p:sp>
        <p:sp>
          <p:nvSpPr>
            <p:cNvPr id="59" name="Text 13">
              <a:extLst>
                <a:ext uri="{FF2B5EF4-FFF2-40B4-BE49-F238E27FC236}">
                  <a16:creationId xmlns:a16="http://schemas.microsoft.com/office/drawing/2014/main" id="{D9D0493C-C0C8-6F64-E70A-C3157942CBCE}"/>
                </a:ext>
              </a:extLst>
            </p:cNvPr>
            <p:cNvSpPr/>
            <p:nvPr/>
          </p:nvSpPr>
          <p:spPr>
            <a:xfrm>
              <a:off x="7790688" y="2514600"/>
              <a:ext cx="128016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박스 외형</a:t>
              </a:r>
              <a:endParaRPr lang="en-US" sz="1000" dirty="0"/>
            </a:p>
          </p:txBody>
        </p:sp>
        <p:sp>
          <p:nvSpPr>
            <p:cNvPr id="60" name="Text 14">
              <a:extLst>
                <a:ext uri="{FF2B5EF4-FFF2-40B4-BE49-F238E27FC236}">
                  <a16:creationId xmlns:a16="http://schemas.microsoft.com/office/drawing/2014/main" id="{834BD155-46E1-1155-9B18-82E88E3587E0}"/>
                </a:ext>
              </a:extLst>
            </p:cNvPr>
            <p:cNvSpPr/>
            <p:nvPr/>
          </p:nvSpPr>
          <p:spPr>
            <a:xfrm>
              <a:off x="9070848" y="2514600"/>
              <a:ext cx="64008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O</a:t>
              </a:r>
              <a:endParaRPr lang="en-US" sz="1000" dirty="0"/>
            </a:p>
          </p:txBody>
        </p:sp>
        <p:sp>
          <p:nvSpPr>
            <p:cNvPr id="61" name="Text 15">
              <a:extLst>
                <a:ext uri="{FF2B5EF4-FFF2-40B4-BE49-F238E27FC236}">
                  <a16:creationId xmlns:a16="http://schemas.microsoft.com/office/drawing/2014/main" id="{95548ED1-E6AC-96C5-8912-BC843446F6A7}"/>
                </a:ext>
              </a:extLst>
            </p:cNvPr>
            <p:cNvSpPr/>
            <p:nvPr/>
          </p:nvSpPr>
          <p:spPr>
            <a:xfrm>
              <a:off x="9710928" y="2514600"/>
              <a:ext cx="77724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O</a:t>
              </a:r>
              <a:endParaRPr lang="en-US" sz="1000" dirty="0"/>
            </a:p>
          </p:txBody>
        </p:sp>
        <p:sp>
          <p:nvSpPr>
            <p:cNvPr id="62" name="Text 16">
              <a:extLst>
                <a:ext uri="{FF2B5EF4-FFF2-40B4-BE49-F238E27FC236}">
                  <a16:creationId xmlns:a16="http://schemas.microsoft.com/office/drawing/2014/main" id="{98420F5A-D3AF-0F3D-2703-DA3DF6D0766D}"/>
                </a:ext>
              </a:extLst>
            </p:cNvPr>
            <p:cNvSpPr/>
            <p:nvPr/>
          </p:nvSpPr>
          <p:spPr>
            <a:xfrm>
              <a:off x="10488168" y="2514600"/>
              <a:ext cx="86868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있음</a:t>
              </a:r>
              <a:endParaRPr lang="en-US" sz="1000" dirty="0"/>
            </a:p>
          </p:txBody>
        </p:sp>
        <p:sp>
          <p:nvSpPr>
            <p:cNvPr id="63" name="Text 17">
              <a:extLst>
                <a:ext uri="{FF2B5EF4-FFF2-40B4-BE49-F238E27FC236}">
                  <a16:creationId xmlns:a16="http://schemas.microsoft.com/office/drawing/2014/main" id="{B35D7442-5F48-E99E-8A8C-9C4908FDE874}"/>
                </a:ext>
              </a:extLst>
            </p:cNvPr>
            <p:cNvSpPr/>
            <p:nvPr/>
          </p:nvSpPr>
          <p:spPr>
            <a:xfrm>
              <a:off x="7790688" y="2880360"/>
              <a:ext cx="1280160" cy="365760"/>
            </a:xfrm>
            <a:prstGeom prst="rect">
              <a:avLst/>
            </a:prstGeom>
            <a:solidFill>
              <a:srgbClr val="F2F3F5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창문 4개</a:t>
              </a:r>
              <a:endParaRPr lang="en-US" sz="1000" dirty="0"/>
            </a:p>
          </p:txBody>
        </p:sp>
        <p:sp>
          <p:nvSpPr>
            <p:cNvPr id="64" name="Text 18">
              <a:extLst>
                <a:ext uri="{FF2B5EF4-FFF2-40B4-BE49-F238E27FC236}">
                  <a16:creationId xmlns:a16="http://schemas.microsoft.com/office/drawing/2014/main" id="{08638734-73C1-13E7-FEC2-6A4FD19C3C1C}"/>
                </a:ext>
              </a:extLst>
            </p:cNvPr>
            <p:cNvSpPr/>
            <p:nvPr/>
          </p:nvSpPr>
          <p:spPr>
            <a:xfrm>
              <a:off x="9070848" y="2880360"/>
              <a:ext cx="640080" cy="365760"/>
            </a:xfrm>
            <a:prstGeom prst="rect">
              <a:avLst/>
            </a:prstGeom>
            <a:solidFill>
              <a:srgbClr val="F2F3F5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O</a:t>
              </a:r>
              <a:endParaRPr lang="en-US" sz="1000" dirty="0"/>
            </a:p>
          </p:txBody>
        </p:sp>
        <p:sp>
          <p:nvSpPr>
            <p:cNvPr id="65" name="Text 19">
              <a:extLst>
                <a:ext uri="{FF2B5EF4-FFF2-40B4-BE49-F238E27FC236}">
                  <a16:creationId xmlns:a16="http://schemas.microsoft.com/office/drawing/2014/main" id="{E62A700C-954A-807E-389D-0B77E84A8221}"/>
                </a:ext>
              </a:extLst>
            </p:cNvPr>
            <p:cNvSpPr/>
            <p:nvPr/>
          </p:nvSpPr>
          <p:spPr>
            <a:xfrm>
              <a:off x="9710928" y="2880360"/>
              <a:ext cx="777240" cy="365760"/>
            </a:xfrm>
            <a:prstGeom prst="rect">
              <a:avLst/>
            </a:prstGeom>
            <a:solidFill>
              <a:srgbClr val="F2F3F5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X</a:t>
              </a:r>
              <a:endParaRPr lang="en-US" sz="1000" dirty="0"/>
            </a:p>
          </p:txBody>
        </p:sp>
        <p:sp>
          <p:nvSpPr>
            <p:cNvPr id="66" name="Text 20">
              <a:extLst>
                <a:ext uri="{FF2B5EF4-FFF2-40B4-BE49-F238E27FC236}">
                  <a16:creationId xmlns:a16="http://schemas.microsoft.com/office/drawing/2014/main" id="{DAE9135F-F776-99B5-4AEE-D447DA9451C2}"/>
                </a:ext>
              </a:extLst>
            </p:cNvPr>
            <p:cNvSpPr/>
            <p:nvPr/>
          </p:nvSpPr>
          <p:spPr>
            <a:xfrm>
              <a:off x="10488168" y="2880360"/>
              <a:ext cx="868680" cy="365760"/>
            </a:xfrm>
            <a:prstGeom prst="rect">
              <a:avLst/>
            </a:prstGeom>
            <a:solidFill>
              <a:srgbClr val="F2F3F5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없음</a:t>
              </a:r>
              <a:endParaRPr lang="en-US" sz="1000" dirty="0"/>
            </a:p>
          </p:txBody>
        </p:sp>
        <p:sp>
          <p:nvSpPr>
            <p:cNvPr id="67" name="Text 21">
              <a:extLst>
                <a:ext uri="{FF2B5EF4-FFF2-40B4-BE49-F238E27FC236}">
                  <a16:creationId xmlns:a16="http://schemas.microsoft.com/office/drawing/2014/main" id="{8811511B-501D-FBEB-38F0-0B186B6C4FE9}"/>
                </a:ext>
              </a:extLst>
            </p:cNvPr>
            <p:cNvSpPr/>
            <p:nvPr/>
          </p:nvSpPr>
          <p:spPr>
            <a:xfrm>
              <a:off x="7790688" y="3246120"/>
              <a:ext cx="128016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내부 벽</a:t>
              </a:r>
              <a:endParaRPr lang="en-US" sz="1000" dirty="0"/>
            </a:p>
          </p:txBody>
        </p:sp>
        <p:sp>
          <p:nvSpPr>
            <p:cNvPr id="68" name="Text 22">
              <a:extLst>
                <a:ext uri="{FF2B5EF4-FFF2-40B4-BE49-F238E27FC236}">
                  <a16:creationId xmlns:a16="http://schemas.microsoft.com/office/drawing/2014/main" id="{8EF35253-DC40-BDBC-2298-07856B6CC4F5}"/>
                </a:ext>
              </a:extLst>
            </p:cNvPr>
            <p:cNvSpPr/>
            <p:nvPr/>
          </p:nvSpPr>
          <p:spPr>
            <a:xfrm>
              <a:off x="9070848" y="3246120"/>
              <a:ext cx="64008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O</a:t>
              </a:r>
              <a:endParaRPr lang="en-US" sz="1000" dirty="0"/>
            </a:p>
          </p:txBody>
        </p:sp>
        <p:sp>
          <p:nvSpPr>
            <p:cNvPr id="69" name="Text 23">
              <a:extLst>
                <a:ext uri="{FF2B5EF4-FFF2-40B4-BE49-F238E27FC236}">
                  <a16:creationId xmlns:a16="http://schemas.microsoft.com/office/drawing/2014/main" id="{4C32D401-1B66-FA18-305C-90D0F0C208B0}"/>
                </a:ext>
              </a:extLst>
            </p:cNvPr>
            <p:cNvSpPr/>
            <p:nvPr/>
          </p:nvSpPr>
          <p:spPr>
            <a:xfrm>
              <a:off x="9710928" y="3246120"/>
              <a:ext cx="77724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X</a:t>
              </a:r>
              <a:endParaRPr lang="en-US" sz="1000" dirty="0"/>
            </a:p>
          </p:txBody>
        </p:sp>
        <p:sp>
          <p:nvSpPr>
            <p:cNvPr id="70" name="Text 24">
              <a:extLst>
                <a:ext uri="{FF2B5EF4-FFF2-40B4-BE49-F238E27FC236}">
                  <a16:creationId xmlns:a16="http://schemas.microsoft.com/office/drawing/2014/main" id="{5A5EC158-E9EE-EA36-6027-E050C25685D5}"/>
                </a:ext>
              </a:extLst>
            </p:cNvPr>
            <p:cNvSpPr/>
            <p:nvPr/>
          </p:nvSpPr>
          <p:spPr>
            <a:xfrm>
              <a:off x="10488168" y="3246120"/>
              <a:ext cx="86868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없음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58368" y="3291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5 (핵심) · 혼동요인 분해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벡터가 이기나 — 절제 실험 (flash, 겹치는 유효 부품)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749040" cy="566928"/>
          </a:xfrm>
          <a:prstGeom prst="rect">
            <a:avLst/>
          </a:prstGeom>
          <a:solidFill>
            <a:srgbClr val="134E96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06240" y="1691640"/>
            <a:ext cx="1828800" cy="566928"/>
          </a:xfrm>
          <a:prstGeom prst="rect">
            <a:avLst/>
          </a:prstGeom>
          <a:solidFill>
            <a:srgbClr val="134E96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251960" y="16916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IoU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2651760" cy="566928"/>
          </a:xfrm>
          <a:prstGeom prst="rect">
            <a:avLst/>
          </a:prstGeom>
          <a:solidFill>
            <a:srgbClr val="134E96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080760" y="1691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대비 / 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3749040" cy="566928"/>
          </a:xfrm>
          <a:prstGeom prst="rect">
            <a:avLst/>
          </a:prstGeom>
          <a:solidFill>
            <a:srgbClr val="E8F0FB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2585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SVG (텍스트)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06240" y="2258568"/>
            <a:ext cx="1828800" cy="566928"/>
          </a:xfrm>
          <a:prstGeom prst="rect">
            <a:avLst/>
          </a:prstGeom>
          <a:solidFill>
            <a:srgbClr val="E8F0FB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251960" y="22585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0.553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2258568"/>
            <a:ext cx="2651760" cy="566928"/>
          </a:xfrm>
          <a:prstGeom prst="rect">
            <a:avLst/>
          </a:prstGeom>
          <a:solidFill>
            <a:srgbClr val="E8F0FB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080760" y="22585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(상한)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2825496"/>
            <a:ext cx="3749040" cy="56692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D: </a:t>
            </a:r>
            <a:r>
              <a:rPr lang="en-US" sz="1250" b="1" dirty="0" err="1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r>
              <a:rPr lang="en-US" sz="12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b="1" dirty="0" err="1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래스터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06240" y="2825496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251960" y="28254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0.408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35040" y="2825496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080760" y="282549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−0.145 / p=0.039 *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3392424"/>
            <a:ext cx="3749040" cy="56692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2920" y="339242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1뷰 (기준)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206240" y="3392424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251960" y="339242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0.331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035040" y="3392424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080760" y="339242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3959352"/>
            <a:ext cx="3749040" cy="56692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02920" y="39593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 이미지 3뷰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06240" y="3959352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251960" y="39593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0.283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035040" y="3959352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080760" y="395935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−0.048 / p=0.58 (n.s.)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4526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6. 혼동요인 분해 (flash, 예비)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49377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57200" y="4937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8680" y="4901184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기하 정보의 텍스트 전달  </a:t>
            </a: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주된 원인 — D(래스터)는 벡터 SVG 대비 유의하게 하락 (0.553→0.408, p=0.039)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53400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97A0A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57200" y="5340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68680" y="530352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정투영이라는 표현 형식  </a:t>
            </a: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기여 — D(0.408)는 일반 이미지 렌더(0.331)보다 여전히 높음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" y="57424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97A0A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57200" y="5742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68680" y="5705856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 개수  </a:t>
            </a: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무관 — C(3뷰)는 기준(1뷰) 대비 향상 없음 (0.331→0.283, p=0.58 n.s.)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기반 3D CAD 생성 평가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29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15B84681-FBAB-3E64-8BA9-2C99CF36DB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588" t="23160" r="8471" b="7113"/>
          <a:stretch>
            <a:fillRect/>
          </a:stretch>
        </p:blipFill>
        <p:spPr>
          <a:xfrm>
            <a:off x="3105574" y="2869870"/>
            <a:ext cx="407882" cy="476834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A81C2F16-A8C4-044A-B967-B1ED9F962C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82" t="41918" r="54118" b="28970"/>
          <a:stretch>
            <a:fillRect/>
          </a:stretch>
        </p:blipFill>
        <p:spPr>
          <a:xfrm>
            <a:off x="2713092" y="4001083"/>
            <a:ext cx="1192846" cy="4794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58368" y="3291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 · 종합 결론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우위의 구조와 공정성 관점의 이중 보고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977640" cy="4297680"/>
          </a:xfrm>
          <a:prstGeom prst="roundRect">
            <a:avLst>
              <a:gd name="adj" fmla="val 1609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901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우위의 원인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(i) 정확한 기하 정보의 텍스트 전달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주된 원인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(ii) 정투영이라는 표현 형식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보조적으로 기여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(iii) 뷰 개수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17720" y="18288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공정성 관점의 이중 보고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17720" y="2240280"/>
            <a:ext cx="4069080" cy="1691640"/>
          </a:xfrm>
          <a:prstGeom prst="roundRect">
            <a:avLst>
              <a:gd name="adj" fmla="val 3784"/>
            </a:avLst>
          </a:prstGeom>
          <a:solidFill>
            <a:srgbClr val="DCE9F8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84632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비교 — 벡터-그림 (D)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724912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텍스트·이미지와 정보 접근을 맞춘 기준. 이 기준에서도 벡터-그림(예비 0.408)은 이미지 1뷰(0.331)보다 높아 정투영 표현의 이점이 유지된다.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17720" y="4069080"/>
            <a:ext cx="4069080" cy="1920240"/>
          </a:xfrm>
          <a:prstGeom prst="roundRect">
            <a:avLst>
              <a:gd name="adj" fmla="val 3333"/>
            </a:avLst>
          </a:prstGeom>
          <a:solidFill>
            <a:srgbClr val="E8F0FB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 (oracle) — 벡터-텍스트 (SVG)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4553712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기하를 텍스트로 제공할 때 도달 가능한 상한 = 0.553.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값의 차이(−0.145, p=0.039)가 곧 좌표-텍스트가 주는 정보 이득이다.</a:t>
            </a:r>
            <a:endParaRPr lang="en-US" sz="1150" dirty="0"/>
          </a:p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벡터-그림(D)의 전체 20부품 완결은 향후 과제 (본 수치는 겹치는 유효 부품 기준 예비값).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기반 3D CAD 생성 평가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1573</Words>
  <Application>Microsoft Macintosh PowerPoint</Application>
  <PresentationFormat>화면 슬라이드 쇼(4:3)</PresentationFormat>
  <Paragraphs>303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CAD 생성 평가 — 보고</dc:title>
  <dc:subject>PptxGenJS Presentation</dc:subject>
  <dc:creator>장영아 · 한국원자력연구원</dc:creator>
  <cp:lastModifiedBy>장영아</cp:lastModifiedBy>
  <cp:revision>4</cp:revision>
  <dcterms:created xsi:type="dcterms:W3CDTF">2026-08-10T06:56:22Z</dcterms:created>
  <dcterms:modified xsi:type="dcterms:W3CDTF">2026-08-10T07:51:23Z</dcterms:modified>
</cp:coreProperties>
</file>