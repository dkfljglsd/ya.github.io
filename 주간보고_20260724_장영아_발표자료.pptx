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</p:sldIdLst>
  <p:sldSz cx="9144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139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Malgun Gothic"/>
              </a:defRPr>
            </a:pPr>
            <a:r>
              <a:rPr lang="ko-KR" altLang="en-US" sz="1200" b="0" i="0" u="none" strike="noStrike">
                <a:solidFill>
                  <a:srgbClr val="6B7280"/>
                </a:solidFill>
                <a:latin typeface="Malgun Gothic"/>
              </a:rPr>
              <a:t>유효 생성률 </a:t>
            </a:r>
            <a:r>
              <a:rPr lang="en-US" altLang="ko-KR" sz="1200" b="0" i="0" u="none" strike="noStrike">
                <a:solidFill>
                  <a:srgbClr val="6B7280"/>
                </a:solidFill>
                <a:latin typeface="Malgun Gothic"/>
              </a:rPr>
              <a:t>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유효율</c:v>
                </c:pt>
              </c:strCache>
            </c:strRef>
          </c:tx>
          <c:spPr>
            <a:solidFill>
              <a:srgbClr val="9DC3F0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9DC3F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851-7C40-B9A1-8D6CCDCFC56A}"/>
              </c:ext>
            </c:extLst>
          </c:dPt>
          <c:dPt>
            <c:idx val="1"/>
            <c:invertIfNegative val="0"/>
            <c:bubble3D val="0"/>
            <c:spPr>
              <a:solidFill>
                <a:srgbClr val="9DC3F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851-7C40-B9A1-8D6CCDCFC56A}"/>
              </c:ext>
            </c:extLst>
          </c:dPt>
          <c:dPt>
            <c:idx val="2"/>
            <c:invertIfNegative val="0"/>
            <c:bubble3D val="0"/>
            <c:spPr>
              <a:solidFill>
                <a:srgbClr val="1C6FC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851-7C40-B9A1-8D6CCDCFC56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22222"/>
                    </a:solidFill>
                    <a:latin typeface="Malgun Gothic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텍스트</c:v>
                </c:pt>
                <c:pt idx="1">
                  <c:v>이미지</c:v>
                </c:pt>
                <c:pt idx="2">
                  <c:v>벡터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75</c:v>
                </c:pt>
                <c:pt idx="1">
                  <c:v>85</c:v>
                </c:pt>
                <c:pt idx="2">
                  <c:v>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851-7C40-B9A1-8D6CCDCFC56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22222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E3E6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Malgun Gothic"/>
              </a:defRPr>
            </a:pPr>
            <a:r>
              <a:rPr lang="ko-KR" altLang="en-US" sz="1200" b="0" i="0" u="none" strike="noStrike">
                <a:solidFill>
                  <a:srgbClr val="6B7280"/>
                </a:solidFill>
                <a:latin typeface="Malgun Gothic"/>
              </a:rPr>
              <a:t>평균 </a:t>
            </a:r>
            <a:r>
              <a:rPr lang="en" sz="1200" b="0" i="0" u="none" strike="noStrike">
                <a:solidFill>
                  <a:srgbClr val="6B7280"/>
                </a:solidFill>
                <a:latin typeface="Malgun Gothic"/>
              </a:rPr>
              <a:t>Voxel IoU (</a:t>
            </a:r>
            <a:r>
              <a:rPr lang="ko-KR" altLang="en-US" sz="1200" b="0" i="0" u="none" strike="noStrike">
                <a:solidFill>
                  <a:srgbClr val="6B7280"/>
                </a:solidFill>
                <a:latin typeface="Malgun Gothic"/>
              </a:rPr>
              <a:t>유효분</a:t>
            </a:r>
            <a:r>
              <a:rPr lang="en-US" altLang="ko-KR" sz="1200" b="0" i="0" u="none" strike="noStrike">
                <a:solidFill>
                  <a:srgbClr val="6B7280"/>
                </a:solidFill>
                <a:latin typeface="Malgun Gothic"/>
              </a:rPr>
              <a:t>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IoU</c:v>
                </c:pt>
              </c:strCache>
            </c:strRef>
          </c:tx>
          <c:spPr>
            <a:solidFill>
              <a:srgbClr val="9DC3F0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9DC3F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5A4-0D47-B95E-3A7B32E9D372}"/>
              </c:ext>
            </c:extLst>
          </c:dPt>
          <c:dPt>
            <c:idx val="1"/>
            <c:invertIfNegative val="0"/>
            <c:bubble3D val="0"/>
            <c:spPr>
              <a:solidFill>
                <a:srgbClr val="9DC3F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5A4-0D47-B95E-3A7B32E9D372}"/>
              </c:ext>
            </c:extLst>
          </c:dPt>
          <c:dPt>
            <c:idx val="2"/>
            <c:invertIfNegative val="0"/>
            <c:bubble3D val="0"/>
            <c:spPr>
              <a:solidFill>
                <a:srgbClr val="1C6FC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5A4-0D47-B95E-3A7B32E9D37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22222"/>
                    </a:solidFill>
                    <a:latin typeface="Malgun Gothic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텍스트</c:v>
                </c:pt>
                <c:pt idx="1">
                  <c:v>이미지</c:v>
                </c:pt>
                <c:pt idx="2">
                  <c:v>벡터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0.14499999999999999</c:v>
                </c:pt>
                <c:pt idx="1">
                  <c:v>0.18099999999999999</c:v>
                </c:pt>
                <c:pt idx="2">
                  <c:v>0.309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5A4-0D47-B95E-3A7B32E9D37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2222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4"/>
          <c:min val="0"/>
        </c:scaling>
        <c:delete val="0"/>
        <c:axPos val="l"/>
        <c:majorGridlines>
          <c:spPr>
            <a:ln w="12700" cap="flat">
              <a:solidFill>
                <a:srgbClr val="E3E6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8201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457200" y="24688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거대언어모델 기반 3D CAD 생성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3337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6F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모달리티별 생성 성능 비교 실험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840480" y="3931920"/>
            <a:ext cx="1463040" cy="0"/>
          </a:xfrm>
          <a:prstGeom prst="line">
            <a:avLst/>
          </a:prstGeom>
          <a:noFill/>
          <a:ln w="19050">
            <a:solidFill>
              <a:srgbClr val="1C6F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57200" y="4297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인공지능응용연구실 :: 한국원자력연구원 (KAERI)
</a:t>
            </a:r>
            <a:r>
              <a:rPr lang="en-US" sz="13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장영아
</a:t>
            </a: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jya03@kaeri.re.kr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6858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47088"/>
            <a:ext cx="566928" cy="566928"/>
          </a:xfrm>
          <a:prstGeom prst="ellipse">
            <a:avLst/>
          </a:prstGeom>
          <a:solidFill>
            <a:srgbClr val="1C6FC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184708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325880" y="1737360"/>
            <a:ext cx="7360920" cy="777240"/>
          </a:xfrm>
          <a:prstGeom prst="roundRect">
            <a:avLst>
              <a:gd name="adj" fmla="val 5882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600200" y="184708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 설계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00200" y="21945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질문 &amp; 입력 모달리티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589520" y="1737360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C6F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p.03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779776"/>
            <a:ext cx="566928" cy="566928"/>
          </a:xfrm>
          <a:prstGeom prst="ellipse">
            <a:avLst/>
          </a:prstGeom>
          <a:solidFill>
            <a:srgbClr val="1C6FC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48640" y="277977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325880" y="2670048"/>
            <a:ext cx="7360920" cy="777240"/>
          </a:xfrm>
          <a:prstGeom prst="roundRect">
            <a:avLst>
              <a:gd name="adj" fmla="val 5882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600200" y="2779776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 파이프라인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00200" y="31272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→ replicad → OCCT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589520" y="2670048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C6F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p.04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712464"/>
            <a:ext cx="566928" cy="566928"/>
          </a:xfrm>
          <a:prstGeom prst="ellipse">
            <a:avLst/>
          </a:prstGeom>
          <a:solidFill>
            <a:srgbClr val="1C6FC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48640" y="371246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325880" y="3602736"/>
            <a:ext cx="7360920" cy="777240"/>
          </a:xfrm>
          <a:prstGeom prst="roundRect">
            <a:avLst>
              <a:gd name="adj" fmla="val 5882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1600200" y="3712464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유효 생성률 결과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600200" y="405993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/ 이미지 / 벡터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589520" y="3602736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C6F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p.05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645152"/>
            <a:ext cx="566928" cy="566928"/>
          </a:xfrm>
          <a:prstGeom prst="ellipse">
            <a:avLst/>
          </a:prstGeom>
          <a:solidFill>
            <a:srgbClr val="1C6FC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548640" y="46451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325880" y="4535424"/>
            <a:ext cx="7360920" cy="777240"/>
          </a:xfrm>
          <a:prstGeom prst="roundRect">
            <a:avLst>
              <a:gd name="adj" fmla="val 5882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1600200" y="464515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정확도 (Voxel IoU) 결과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600200" y="499262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난이도별 비교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589520" y="4535424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C6F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p.06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5577840"/>
            <a:ext cx="566928" cy="566928"/>
          </a:xfrm>
          <a:prstGeom prst="ellipse">
            <a:avLst/>
          </a:prstGeom>
          <a:solidFill>
            <a:srgbClr val="1C6FC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548640" y="55778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1325880" y="5468112"/>
            <a:ext cx="7360920" cy="777240"/>
          </a:xfrm>
          <a:prstGeom prst="roundRect">
            <a:avLst>
              <a:gd name="adj" fmla="val 5882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1600200" y="5577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r>
              <a:rPr lang="en-US" sz="16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600" b="1" dirty="0" err="1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600200" y="592531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2D → 3D 전이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589520" y="5468112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C6F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p.07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 험  설 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주 실험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8229600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1C6FC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질문 :  2D에서 확인된 입력 모달리티 순서(벡터 &gt; 이미지 &gt; 텍스트)가 3D 형상 생성에서도 유지되는가?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3977640" cy="3840480"/>
          </a:xfrm>
          <a:prstGeom prst="roundRect">
            <a:avLst>
              <a:gd name="adj" fmla="val 1429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85800" y="263347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A S E   S E T U P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29260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74520" y="29260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gemini-flash-latest (무료)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33832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74520" y="33832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freecad_20_selected · 20개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38404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파이프라인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74520" y="38404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single (1-shot, 복구 없음)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" y="42976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 지표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874520" y="42976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Voxel IoU (2D IoU 대응)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" y="47548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874520" y="47548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부품 STEP (GT)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" y="52120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난이도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874520" y="52120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easy 8 / medium 9 / hard 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" y="56692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규모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874520" y="56692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 부품 × 3 모달리티 = 60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09160" y="2468880"/>
            <a:ext cx="3977640" cy="3840480"/>
          </a:xfrm>
          <a:prstGeom prst="roundRect">
            <a:avLst>
              <a:gd name="adj" fmla="val 1429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4937760" y="29260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6F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입력 모달리티 (동일 base 텍스트 공유)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37760" y="333756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50000"/>
              </a:lnSpc>
              <a:buSzPct val="100000"/>
              <a:buChar char="•"/>
            </a:pPr>
            <a:r>
              <a:rPr lang="en-US" sz="12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</a:t>
            </a: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부품 설명 문장만
</a:t>
            </a:r>
            <a:r>
              <a:rPr lang="en-US" sz="12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</a:t>
            </a: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등각 렌더 PNG 
</a:t>
            </a:r>
            <a:r>
              <a:rPr lang="en-US" sz="12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 </a:t>
            </a: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TechDraw </a:t>
            </a:r>
            <a:r>
              <a:rPr lang="en-US" sz="1200" dirty="0" err="1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정투영</a:t>
            </a: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SVG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937760" y="5074920"/>
            <a:ext cx="3520440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4937760" y="52120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 밀도:  텍스트  &lt;  이미지  &lt;  벡터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 험  설 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모달리티 3종 — 같은 부품, 다른 입력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8229600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 부품 :  U-bracket (easy)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32370" y="2011680"/>
            <a:ext cx="2651760" cy="3566160"/>
          </a:xfrm>
          <a:prstGeom prst="roundRect">
            <a:avLst>
              <a:gd name="adj" fmla="val 2069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6F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154066"/>
            <a:ext cx="2286000" cy="1603354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77240" y="306324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"U-bracket;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through hole;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symmetric"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388874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부품 설명 문장만.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치수·비율·형상 세부는 없음.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2011680"/>
            <a:ext cx="2651760" cy="3566160"/>
          </a:xfrm>
          <a:prstGeom prst="roundRect">
            <a:avLst>
              <a:gd name="adj" fmla="val 2069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474720" y="2148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6F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(등각 PNG)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126480" y="2011680"/>
            <a:ext cx="2651760" cy="3566160"/>
          </a:xfrm>
          <a:prstGeom prst="roundRect">
            <a:avLst>
              <a:gd name="adj" fmla="val 2069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6309360" y="2148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6F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 (TechDraw SVG)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457200" y="5806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 밀도: 텍스트(성김) &lt; 이미지(등각 1뷰) &lt; 벡터(정투영 다뷰 + 정밀 라인).  단, 3D에서 벡터는 2D 도면을 3D로 역산해야 함.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900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26328A1D-05F7-371C-65FE-9183A125F0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4900" y="3154066"/>
            <a:ext cx="1854200" cy="1603354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11235A95-57B4-4B4E-10B6-2181EAB068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7070" y="3154066"/>
            <a:ext cx="1870580" cy="160335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 x p :  생 성  안 정 성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모달리티별 유효 생성률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8229600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828800"/>
          <a:ext cx="393192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4663440" y="3127247"/>
            <a:ext cx="1097280" cy="384048"/>
          </a:xfrm>
          <a:prstGeom prst="rect">
            <a:avLst/>
          </a:prstGeom>
          <a:solidFill>
            <a:srgbClr val="1C6FC9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모달리티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760720" y="3127247"/>
            <a:ext cx="1097280" cy="384048"/>
          </a:xfrm>
          <a:prstGeom prst="rect">
            <a:avLst/>
          </a:prstGeom>
          <a:solidFill>
            <a:srgbClr val="1C6FC9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유효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858000" y="3127247"/>
            <a:ext cx="594360" cy="384048"/>
          </a:xfrm>
          <a:prstGeom prst="rect">
            <a:avLst/>
          </a:prstGeom>
          <a:solidFill>
            <a:srgbClr val="1C6FC9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easy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452360" y="3127247"/>
            <a:ext cx="685800" cy="384048"/>
          </a:xfrm>
          <a:prstGeom prst="rect">
            <a:avLst/>
          </a:prstGeom>
          <a:solidFill>
            <a:srgbClr val="1C6FC9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medium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138160" y="3127247"/>
            <a:ext cx="548640" cy="384048"/>
          </a:xfrm>
          <a:prstGeom prst="rect">
            <a:avLst/>
          </a:prstGeom>
          <a:solidFill>
            <a:srgbClr val="1C6FC9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hard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663440" y="3511295"/>
            <a:ext cx="10972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760720" y="3511295"/>
            <a:ext cx="10972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75% (15/20)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858000" y="3511295"/>
            <a:ext cx="5943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7/8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452360" y="3511295"/>
            <a:ext cx="6858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6/9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138160" y="3511295"/>
            <a:ext cx="5486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2/3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663440" y="3895343"/>
            <a:ext cx="10972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760720" y="3895343"/>
            <a:ext cx="10972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85% (17/20)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858000" y="3895343"/>
            <a:ext cx="5943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7/8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452360" y="3895343"/>
            <a:ext cx="6858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8/9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8138160" y="3895343"/>
            <a:ext cx="5486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2/3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663440" y="4279391"/>
            <a:ext cx="1097280" cy="384048"/>
          </a:xfrm>
          <a:prstGeom prst="rect">
            <a:avLst/>
          </a:prstGeom>
          <a:solidFill>
            <a:srgbClr val="E8F0FB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760720" y="4279391"/>
            <a:ext cx="1097280" cy="384048"/>
          </a:xfrm>
          <a:prstGeom prst="rect">
            <a:avLst/>
          </a:prstGeom>
          <a:solidFill>
            <a:srgbClr val="E8F0FB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95% (19/20)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858000" y="4279391"/>
            <a:ext cx="594360" cy="384048"/>
          </a:xfrm>
          <a:prstGeom prst="rect">
            <a:avLst/>
          </a:prstGeom>
          <a:solidFill>
            <a:srgbClr val="E8F0FB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8/8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7452360" y="4279391"/>
            <a:ext cx="685800" cy="384048"/>
          </a:xfrm>
          <a:prstGeom prst="rect">
            <a:avLst/>
          </a:prstGeom>
          <a:solidFill>
            <a:srgbClr val="E8F0FB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9/9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8138160" y="4279391"/>
            <a:ext cx="548640" cy="384048"/>
          </a:xfrm>
          <a:prstGeom prst="rect">
            <a:avLst/>
          </a:prstGeom>
          <a:solidFill>
            <a:srgbClr val="E8F0FB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2/3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 x p :  형 상  정 확 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모달리티별 정확도 (Voxel IoU)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8229600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943600" y="457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IoU  Intersection over Union</a:t>
            </a:r>
            <a:endParaRPr lang="en-US" sz="8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828800"/>
          <a:ext cx="393192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4663440" y="3429000"/>
            <a:ext cx="960120" cy="384048"/>
          </a:xfrm>
          <a:prstGeom prst="rect">
            <a:avLst/>
          </a:prstGeom>
          <a:solidFill>
            <a:srgbClr val="1C6FC9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모달리티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623560" y="3429000"/>
            <a:ext cx="685800" cy="384048"/>
          </a:xfrm>
          <a:prstGeom prst="rect">
            <a:avLst/>
          </a:prstGeom>
          <a:solidFill>
            <a:srgbClr val="1C6FC9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평균IoU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309360" y="3429000"/>
            <a:ext cx="731520" cy="384048"/>
          </a:xfrm>
          <a:prstGeom prst="rect">
            <a:avLst/>
          </a:prstGeom>
          <a:solidFill>
            <a:srgbClr val="1C6FC9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uncond.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040880" y="3429000"/>
            <a:ext cx="548640" cy="384048"/>
          </a:xfrm>
          <a:prstGeom prst="rect">
            <a:avLst/>
          </a:prstGeom>
          <a:solidFill>
            <a:srgbClr val="1C6FC9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easy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589520" y="3429000"/>
            <a:ext cx="548640" cy="384048"/>
          </a:xfrm>
          <a:prstGeom prst="rect">
            <a:avLst/>
          </a:prstGeom>
          <a:solidFill>
            <a:srgbClr val="1C6FC9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med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138160" y="3429000"/>
            <a:ext cx="548640" cy="384048"/>
          </a:xfrm>
          <a:prstGeom prst="rect">
            <a:avLst/>
          </a:prstGeom>
          <a:solidFill>
            <a:srgbClr val="1C6FC9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hard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663440" y="3813048"/>
            <a:ext cx="9601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623560" y="3813048"/>
            <a:ext cx="6858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0.145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309360" y="3813048"/>
            <a:ext cx="7315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0.109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040880" y="3813048"/>
            <a:ext cx="5486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0.187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589520" y="3813048"/>
            <a:ext cx="5486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0.143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138160" y="3813048"/>
            <a:ext cx="5486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0.002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663440" y="4197096"/>
            <a:ext cx="9601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623560" y="4197096"/>
            <a:ext cx="6858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0.181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309360" y="4197096"/>
            <a:ext cx="7315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0.154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7040880" y="4197096"/>
            <a:ext cx="5486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0.206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7589520" y="4197096"/>
            <a:ext cx="5486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0.181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8138160" y="4197096"/>
            <a:ext cx="5486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0.098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663440" y="4581144"/>
            <a:ext cx="960120" cy="384048"/>
          </a:xfrm>
          <a:prstGeom prst="rect">
            <a:avLst/>
          </a:prstGeom>
          <a:solidFill>
            <a:srgbClr val="E8F0FB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623560" y="4581144"/>
            <a:ext cx="685800" cy="384048"/>
          </a:xfrm>
          <a:prstGeom prst="rect">
            <a:avLst/>
          </a:prstGeom>
          <a:solidFill>
            <a:srgbClr val="E8F0FB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0.309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309360" y="4581144"/>
            <a:ext cx="731520" cy="384048"/>
          </a:xfrm>
          <a:prstGeom prst="rect">
            <a:avLst/>
          </a:prstGeom>
          <a:solidFill>
            <a:srgbClr val="E8F0FB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0.294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7040880" y="4581144"/>
            <a:ext cx="548640" cy="384048"/>
          </a:xfrm>
          <a:prstGeom prst="rect">
            <a:avLst/>
          </a:prstGeom>
          <a:solidFill>
            <a:srgbClr val="E8F0FB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0.325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7589520" y="4581144"/>
            <a:ext cx="548640" cy="384048"/>
          </a:xfrm>
          <a:prstGeom prst="rect">
            <a:avLst/>
          </a:prstGeom>
          <a:solidFill>
            <a:srgbClr val="E8F0FB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0.327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8138160" y="4581144"/>
            <a:ext cx="548640" cy="384048"/>
          </a:xfrm>
          <a:prstGeom prst="rect">
            <a:avLst/>
          </a:prstGeom>
          <a:solidFill>
            <a:srgbClr val="E8F0FB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0.163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 과  해 석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2D → 3D 전이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8229600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3977640" cy="1691640"/>
          </a:xfrm>
          <a:prstGeom prst="roundRect">
            <a:avLst>
              <a:gd name="adj" fmla="val 2703"/>
            </a:avLst>
          </a:prstGeom>
          <a:solidFill>
            <a:srgbClr val="E8F0FB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85800" y="19659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4E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H1 (순서 전이)  ✅ 지지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2404872"/>
            <a:ext cx="3520440" cy="0"/>
          </a:xfrm>
          <a:prstGeom prst="line">
            <a:avLst/>
          </a:prstGeom>
          <a:noFill/>
          <a:ln w="12700">
            <a:solidFill>
              <a:srgbClr val="B9D3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85800" y="2496312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text &lt; image &lt; vector 순서가 유효율·IoU 모두에서 재현됨. 2D 국기 결과가 3D 기계부품에서도 유지.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1783080"/>
            <a:ext cx="3977640" cy="1691640"/>
          </a:xfrm>
          <a:prstGeom prst="roundRect">
            <a:avLst>
              <a:gd name="adj" fmla="val 2703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937760" y="19659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H2 (이미지 역전)  ❌ 기각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937760" y="2404872"/>
            <a:ext cx="3520440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937760" y="2496312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벡터가 3D 정투영 역산 실패로 무너질 것으로 예상했으나, 그대로 최고 성능 유지. 예상 반박.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657600"/>
            <a:ext cx="3977640" cy="1691640"/>
          </a:xfrm>
          <a:prstGeom prst="roundRect">
            <a:avLst>
              <a:gd name="adj" fmla="val 2703"/>
            </a:avLst>
          </a:prstGeom>
          <a:solidFill>
            <a:srgbClr val="E8F0FB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85800" y="38404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4E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H3 (난이도)  ✅ 지지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85800" y="4279392"/>
            <a:ext cx="3520440" cy="0"/>
          </a:xfrm>
          <a:prstGeom prst="line">
            <a:avLst/>
          </a:prstGeom>
          <a:noFill/>
          <a:ln w="12700">
            <a:solidFill>
              <a:srgbClr val="B9D3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85800" y="4370832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난이도↑일수록 전 모달리티 급락. 특히 hard에서 텍스트 IoU 0.002로 사실상 붕괴, 벡터가 그나마 버팀.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09160" y="3657600"/>
            <a:ext cx="3977640" cy="1691640"/>
          </a:xfrm>
          <a:prstGeom prst="roundRect">
            <a:avLst>
              <a:gd name="adj" fmla="val 2703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937760" y="38404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 (절대값 낮음)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937760" y="4279392"/>
            <a:ext cx="3520440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937760" y="4370832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회전 미정렬 voxel IoU가 정확한 형상도 낮게 매김(예: 눈으로 </a:t>
            </a:r>
            <a:r>
              <a:rPr lang="en-US" sz="1050" dirty="0" err="1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맞는</a:t>
            </a: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vector도</a:t>
            </a: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0.41) + 무료 모델 + 단일 seed.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감사합니다.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9319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장영아
</a:t>
            </a: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jya03@kaeri.re.kr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540</Words>
  <Application>Microsoft Macintosh PowerPoint</Application>
  <PresentationFormat>화면 슬라이드 쇼(4:3)</PresentationFormat>
  <Paragraphs>136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장영아</cp:lastModifiedBy>
  <cp:revision>3</cp:revision>
  <dcterms:created xsi:type="dcterms:W3CDTF">2026-07-24T07:22:03Z</dcterms:created>
  <dcterms:modified xsi:type="dcterms:W3CDTF">2026-07-24T07:27:13Z</dcterms:modified>
</cp:coreProperties>
</file>